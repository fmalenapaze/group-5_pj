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72" r:id="rId3"/>
    <p:sldId id="273" r:id="rId4"/>
    <p:sldId id="274" r:id="rId5"/>
    <p:sldId id="275" r:id="rId6"/>
    <p:sldId id="276" r:id="rId7"/>
    <p:sldId id="270" r:id="rId8"/>
    <p:sldId id="282" r:id="rId9"/>
    <p:sldId id="257" r:id="rId10"/>
    <p:sldId id="262" r:id="rId11"/>
    <p:sldId id="283" r:id="rId12"/>
    <p:sldId id="265" r:id="rId13"/>
    <p:sldId id="279" r:id="rId14"/>
    <p:sldId id="260" r:id="rId15"/>
    <p:sldId id="284" r:id="rId16"/>
    <p:sldId id="266" r:id="rId17"/>
    <p:sldId id="286" r:id="rId18"/>
    <p:sldId id="268" r:id="rId19"/>
  </p:sldIdLst>
  <p:sldSz cx="18288000" cy="10287000"/>
  <p:notesSz cx="6858000" cy="9144000"/>
  <p:embeddedFontLst>
    <p:embeddedFont>
      <p:font typeface="Montserrat Bold"/>
      <p:regular r:id="rId21"/>
      <p:bold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  <p:embeddedFont>
      <p:font typeface="Open Sans Bold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8F8D"/>
    <a:srgbClr val="DEECC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213" dt="2026-10-13T11:16:31.588"/>
    <p1510:client id="{0B31DD9E-65C2-E452-EDAF-2C41473E8055}" v="961" dt="2026-10-12T21:44:39.162"/>
    <p1510:client id="{385ED6AF-E38C-FE23-3010-6622A0E051E1}" v="35" dt="2026-10-13T15:01:40.021"/>
    <p1510:client id="{4E4FB718-6BD2-916C-424B-9C8BAB26C07A}" v="279" dt="2026-10-13T20:42:12.105"/>
    <p1510:client id="{74ACE6A0-F408-2ACA-08B9-AD2784897BA8}" v="1236" dt="2026-10-13T13:55:00.369"/>
    <p1510:client id="{AB382118-7DC5-4A51-CCB5-6A56ABFAF2A8}" v="835" dt="2026-10-13T19:25:10.893"/>
    <p1510:client id="{CB37C4C3-9199-7439-36F1-0F2D1EC65453}" v="40" dt="2026-10-13T12:49:03.480"/>
    <p1510:client id="{F507450F-75CB-6E4D-BBAC-F5ED969B5B84}" v="3594" dt="2026-10-13T20:42:52.6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01"/>
    <p:restoredTop sz="84091"/>
  </p:normalViewPr>
  <p:slideViewPr>
    <p:cSldViewPr snapToGrid="0">
      <p:cViewPr varScale="1">
        <p:scale>
          <a:sx n="68" d="100"/>
          <a:sy n="68" d="100"/>
        </p:scale>
        <p:origin x="1112" y="208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29F9E0-DBEF-4C14-AD62-432B2D713A28}" type="datetimeFigureOut">
              <a:t>13.10.26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D9B01-30FB-445D-B9A8-C3CD20C01BA9}" type="slidenum"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55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s.physiology.org/doi/full/10.1152/physrev.00037.2017#core-collateral-B257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2841205/#pone.0009759-Caswell1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pmc.ncbi.nlm.nih.gov/articles/PMC2841205/#pone.0009759-Koegel1" TargetMode="External"/><Relationship Id="rId4" Type="http://schemas.openxmlformats.org/officeDocument/2006/relationships/hyperlink" Target="https://pmc.ncbi.nlm.nih.gov/articles/PMC2841205/#pone.0009759-Caswell2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D9B01-30FB-445D-B9A8-C3CD20C01BA9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02875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Fast QC, coverage, Flavia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D9B01-30FB-445D-B9A8-C3CD20C01BA9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133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Same for </a:t>
            </a:r>
            <a:r>
              <a:rPr lang="de-DE" dirty="0" err="1"/>
              <a:t>denovo</a:t>
            </a:r>
            <a:r>
              <a:rPr lang="de-DE" dirty="0"/>
              <a:t>, but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know</a:t>
            </a:r>
            <a:r>
              <a:rPr lang="de-DE" dirty="0"/>
              <a:t> CEDNIK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recessive</a:t>
            </a:r>
            <a:r>
              <a:rPr lang="de-DE" dirty="0"/>
              <a:t> (still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checked</a:t>
            </a:r>
            <a:r>
              <a:rPr lang="de-DE" dirty="0"/>
              <a:t> for </a:t>
            </a:r>
            <a:r>
              <a:rPr lang="de-DE" dirty="0" err="1"/>
              <a:t>denovo</a:t>
            </a:r>
            <a:r>
              <a:rPr lang="de-DE" dirty="0"/>
              <a:t> </a:t>
            </a:r>
            <a:r>
              <a:rPr lang="de-DE" dirty="0">
                <a:sym typeface="Wingdings" pitchFamily="2" charset="2"/>
              </a:rPr>
              <a:t> </a:t>
            </a:r>
            <a:r>
              <a:rPr lang="de-DE" dirty="0" err="1">
                <a:sym typeface="Wingdings" pitchFamily="2" charset="2"/>
              </a:rPr>
              <a:t>no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mutation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candidate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found</a:t>
            </a:r>
            <a:r>
              <a:rPr lang="de-DE" dirty="0">
                <a:sym typeface="Wingdings" pitchFamily="2" charset="2"/>
              </a:rPr>
              <a:t>)</a:t>
            </a:r>
          </a:p>
          <a:p>
            <a:endParaRPr lang="de-DE" dirty="0">
              <a:sym typeface="Wingdings" pitchFamily="2" charset="2"/>
            </a:endParaRPr>
          </a:p>
          <a:p>
            <a:r>
              <a:rPr lang="de-DE" dirty="0" err="1">
                <a:sym typeface="Wingdings" pitchFamily="2" charset="2"/>
              </a:rPr>
              <a:t>Explain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population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databases</a:t>
            </a:r>
            <a:endParaRPr lang="de-DE" dirty="0">
              <a:sym typeface="Wingdings" pitchFamily="2" charset="2"/>
            </a:endParaRPr>
          </a:p>
          <a:p>
            <a:r>
              <a:rPr lang="de-DE" dirty="0" err="1">
                <a:sym typeface="Wingdings" pitchFamily="2" charset="2"/>
              </a:rPr>
              <a:t>Explain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deleterious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D9B01-30FB-445D-B9A8-C3CD20C01BA9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880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276F3-6900-AD27-2B16-48FFE7B7E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69139D7-CC02-18DC-8B21-FBFAE4E76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75E0A57-4319-CD03-988A-6EF1F7B4D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Synaptosomal-associated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protein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29</a:t>
            </a:r>
            <a:endParaRPr lang="de-DE" dirty="0">
              <a:latin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 err="1">
                <a:latin typeface="Aptos" panose="020B0004020202020204" pitchFamily="34" charset="0"/>
              </a:rPr>
              <a:t>Qbc</a:t>
            </a:r>
            <a:r>
              <a:rPr lang="de-DE" dirty="0">
                <a:latin typeface="Aptos" panose="020B0004020202020204" pitchFamily="34" charset="0"/>
              </a:rPr>
              <a:t>-SNARE (</a:t>
            </a:r>
            <a:r>
              <a:rPr lang="de-DE" dirty="0"/>
              <a:t>soluble </a:t>
            </a:r>
            <a:r>
              <a:rPr lang="de-DE" i="1" dirty="0"/>
              <a:t>N</a:t>
            </a:r>
            <a:r>
              <a:rPr lang="de-DE" dirty="0"/>
              <a:t>-</a:t>
            </a:r>
            <a:r>
              <a:rPr lang="de-DE" dirty="0" err="1"/>
              <a:t>ethylmaleimide</a:t>
            </a:r>
            <a:r>
              <a:rPr lang="de-DE" dirty="0"/>
              <a:t>-sensitive </a:t>
            </a:r>
            <a:r>
              <a:rPr lang="de-DE" dirty="0" err="1"/>
              <a:t>factor</a:t>
            </a:r>
            <a:r>
              <a:rPr lang="de-DE" dirty="0"/>
              <a:t> </a:t>
            </a:r>
            <a:r>
              <a:rPr lang="de-DE" dirty="0" err="1"/>
              <a:t>attachment</a:t>
            </a:r>
            <a:r>
              <a:rPr lang="de-DE" dirty="0"/>
              <a:t> </a:t>
            </a:r>
            <a:r>
              <a:rPr lang="de-DE" dirty="0" err="1"/>
              <a:t>protein</a:t>
            </a:r>
            <a:r>
              <a:rPr lang="de-DE" dirty="0"/>
              <a:t> </a:t>
            </a:r>
            <a:r>
              <a:rPr lang="de-DE" dirty="0" err="1"/>
              <a:t>receptor</a:t>
            </a:r>
            <a:r>
              <a:rPr lang="de-DE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>
              <a:latin typeface="Aptos" panose="020B00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 err="1">
                <a:latin typeface="Aptos" panose="020B0004020202020204" pitchFamily="34" charset="0"/>
              </a:rPr>
              <a:t>Complex</a:t>
            </a:r>
            <a:r>
              <a:rPr lang="de-DE" dirty="0">
                <a:latin typeface="Aptos" panose="020B0004020202020204" pitchFamily="34" charset="0"/>
              </a:rPr>
              <a:t> </a:t>
            </a:r>
            <a:r>
              <a:rPr lang="de-DE" dirty="0" err="1">
                <a:latin typeface="Aptos" panose="020B0004020202020204" pitchFamily="34" charset="0"/>
              </a:rPr>
              <a:t>with</a:t>
            </a:r>
            <a:r>
              <a:rPr lang="de-DE" dirty="0">
                <a:latin typeface="Aptos" panose="020B0004020202020204" pitchFamily="34" charset="0"/>
              </a:rPr>
              <a:t> </a:t>
            </a:r>
            <a:r>
              <a:rPr lang="de-DE" dirty="0" err="1">
                <a:latin typeface="Aptos" panose="020B0004020202020204" pitchFamily="34" charset="0"/>
              </a:rPr>
              <a:t>syntaxin</a:t>
            </a:r>
            <a:r>
              <a:rPr lang="de-DE" dirty="0">
                <a:latin typeface="Aptos" panose="020B0004020202020204" pitchFamily="34" charset="0"/>
              </a:rPr>
              <a:t> 17 (orange), </a:t>
            </a:r>
            <a:r>
              <a:rPr lang="de-DE" dirty="0" err="1">
                <a:latin typeface="Aptos" panose="020B0004020202020204" pitchFamily="34" charset="0"/>
              </a:rPr>
              <a:t>vesicle</a:t>
            </a:r>
            <a:r>
              <a:rPr lang="de-DE" dirty="0">
                <a:latin typeface="Aptos" panose="020B0004020202020204" pitchFamily="34" charset="0"/>
              </a:rPr>
              <a:t> </a:t>
            </a:r>
            <a:r>
              <a:rPr lang="de-DE" dirty="0" err="1">
                <a:latin typeface="Aptos" panose="020B0004020202020204" pitchFamily="34" charset="0"/>
              </a:rPr>
              <a:t>associated-membrqane</a:t>
            </a:r>
            <a:r>
              <a:rPr lang="de-DE" dirty="0">
                <a:latin typeface="Aptos" panose="020B0004020202020204" pitchFamily="34" charset="0"/>
              </a:rPr>
              <a:t> </a:t>
            </a:r>
            <a:r>
              <a:rPr lang="de-DE" dirty="0" err="1">
                <a:latin typeface="Aptos" panose="020B0004020202020204" pitchFamily="34" charset="0"/>
              </a:rPr>
              <a:t>protein</a:t>
            </a:r>
            <a:r>
              <a:rPr lang="de-DE" dirty="0">
                <a:latin typeface="Aptos" panose="020B0004020202020204" pitchFamily="34" charset="0"/>
              </a:rPr>
              <a:t> 8 (</a:t>
            </a:r>
            <a:r>
              <a:rPr lang="de-DE" dirty="0" err="1">
                <a:latin typeface="Aptos" panose="020B0004020202020204" pitchFamily="34" charset="0"/>
              </a:rPr>
              <a:t>green</a:t>
            </a:r>
            <a:r>
              <a:rPr lang="de-DE" dirty="0">
                <a:latin typeface="Aptos" panose="020B0004020202020204" pitchFamily="34" charset="0"/>
              </a:rPr>
              <a:t>) </a:t>
            </a:r>
            <a:r>
              <a:rPr lang="de-DE" dirty="0">
                <a:latin typeface="Aptos" panose="020B0004020202020204" pitchFamily="34" charset="0"/>
                <a:sym typeface="Wingdings" pitchFamily="2" charset="2"/>
              </a:rPr>
              <a:t> </a:t>
            </a:r>
            <a:r>
              <a:rPr lang="de-DE" dirty="0" err="1">
                <a:latin typeface="Aptos" panose="020B0004020202020204" pitchFamily="34" charset="0"/>
                <a:sym typeface="Wingdings" pitchFamily="2" charset="2"/>
              </a:rPr>
              <a:t>autophagic</a:t>
            </a:r>
            <a:r>
              <a:rPr lang="de-DE" dirty="0">
                <a:latin typeface="Aptos" panose="020B0004020202020204" pitchFamily="34" charset="0"/>
                <a:sym typeface="Wingdings" pitchFamily="2" charset="2"/>
              </a:rPr>
              <a:t> SNARE </a:t>
            </a:r>
            <a:r>
              <a:rPr lang="de-DE" dirty="0" err="1">
                <a:latin typeface="Aptos" panose="020B0004020202020204" pitchFamily="34" charset="0"/>
                <a:sym typeface="Wingdings" pitchFamily="2" charset="2"/>
              </a:rPr>
              <a:t>complex</a:t>
            </a:r>
            <a:r>
              <a:rPr lang="de-DE" dirty="0">
                <a:latin typeface="Aptos" panose="020B0004020202020204" pitchFamily="34" charset="0"/>
                <a:sym typeface="Wingdings" pitchFamily="2" charset="2"/>
              </a:rPr>
              <a:t>,</a:t>
            </a:r>
            <a:endParaRPr lang="de-DE" dirty="0">
              <a:latin typeface="Aptos" panose="020B0004020202020204" pitchFamily="34" charset="0"/>
            </a:endParaRPr>
          </a:p>
          <a:p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38 SNAREs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humans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conserved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yeast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locate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the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plasma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membrane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recycling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endosomes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organelles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interacting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membrane-anchored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SNAREs </a:t>
            </a:r>
          </a:p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SNAP29 mediates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recycling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transferrin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integrins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recycling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endosomes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de-DE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257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and the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fusion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compartments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phagosomes</a:t>
            </a:r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SNARE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complex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R-SNARE and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Q-SNARE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motifs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called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Qa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-,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Qb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-, and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Qc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-SNAREs</a:t>
            </a:r>
          </a:p>
          <a:p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forming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α-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helical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coiled-coil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bundle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called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 </a:t>
            </a:r>
            <a:r>
              <a:rPr lang="de-DE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cis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-SNARE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complex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 </a:t>
            </a:r>
            <a:r>
              <a:rPr lang="de-DE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 </a:t>
            </a:r>
            <a:r>
              <a:rPr lang="de-DE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cis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conformation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change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brings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opposing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fusing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membranes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apposition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provides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sufficient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energy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drive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membrane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994F33-0098-FFA5-E2CC-D01CF64E9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D9B01-30FB-445D-B9A8-C3CD20C01BA9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4666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Conserved</a:t>
            </a:r>
            <a:r>
              <a:rPr lang="de-DE" dirty="0"/>
              <a:t> in </a:t>
            </a:r>
            <a:r>
              <a:rPr lang="de-DE" dirty="0" err="1"/>
              <a:t>dog</a:t>
            </a:r>
            <a:r>
              <a:rPr lang="de-DE" dirty="0"/>
              <a:t>, </a:t>
            </a:r>
            <a:r>
              <a:rPr lang="de-DE" dirty="0" err="1"/>
              <a:t>chicken</a:t>
            </a:r>
            <a:r>
              <a:rPr lang="de-DE" dirty="0"/>
              <a:t>, </a:t>
            </a:r>
            <a:r>
              <a:rPr lang="de-DE" dirty="0" err="1"/>
              <a:t>zebrafish</a:t>
            </a:r>
            <a:r>
              <a:rPr lang="de-DE" dirty="0"/>
              <a:t>, PhyloP100Way score: 4.128, PhastCons100way </a:t>
            </a:r>
            <a:r>
              <a:rPr lang="de-DE" dirty="0" err="1"/>
              <a:t>conservation</a:t>
            </a:r>
            <a:r>
              <a:rPr lang="de-DE" dirty="0"/>
              <a:t> score of 1.000</a:t>
            </a:r>
          </a:p>
          <a:p>
            <a:endParaRPr lang="de-DE" dirty="0"/>
          </a:p>
          <a:p>
            <a:r>
              <a:rPr lang="de-DE" dirty="0"/>
              <a:t>https://</a:t>
            </a:r>
            <a:r>
              <a:rPr lang="de-DE" dirty="0" err="1"/>
              <a:t>www.ncbi.nlm.nih.gov</a:t>
            </a:r>
            <a:r>
              <a:rPr lang="de-DE" dirty="0"/>
              <a:t>/</a:t>
            </a:r>
            <a:r>
              <a:rPr lang="de-DE" dirty="0" err="1"/>
              <a:t>clinvar</a:t>
            </a:r>
            <a:r>
              <a:rPr lang="de-DE" dirty="0"/>
              <a:t>/</a:t>
            </a:r>
            <a:r>
              <a:rPr lang="de-DE" dirty="0" err="1"/>
              <a:t>search</a:t>
            </a:r>
            <a:r>
              <a:rPr lang="de-DE" dirty="0"/>
              <a:t>/?</a:t>
            </a:r>
            <a:r>
              <a:rPr lang="de-DE" dirty="0" err="1"/>
              <a:t>gene</a:t>
            </a:r>
            <a:r>
              <a:rPr lang="de-DE" dirty="0"/>
              <a:t>=SNAP29&amp;assembly=GRCh38&amp;disease=CEDNIK</a:t>
            </a:r>
          </a:p>
          <a:p>
            <a:r>
              <a:rPr lang="de-DE" dirty="0">
                <a:sym typeface="Wingdings" pitchFamily="2" charset="2"/>
              </a:rPr>
              <a:t> Many </a:t>
            </a:r>
            <a:r>
              <a:rPr lang="de-DE" dirty="0" err="1">
                <a:sym typeface="Wingdings" pitchFamily="2" charset="2"/>
              </a:rPr>
              <a:t>associated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variants</a:t>
            </a:r>
            <a:r>
              <a:rPr lang="de-DE" dirty="0">
                <a:sym typeface="Wingdings" pitchFamily="2" charset="2"/>
              </a:rPr>
              <a:t> in SNAP29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D9B01-30FB-445D-B9A8-C3CD20C01BA9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9425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Not a </a:t>
            </a:r>
            <a:r>
              <a:rPr lang="de-DE" err="1"/>
              <a:t>loss</a:t>
            </a:r>
            <a:r>
              <a:rPr lang="de-DE"/>
              <a:t> of </a:t>
            </a:r>
            <a:r>
              <a:rPr lang="de-DE" err="1"/>
              <a:t>function</a:t>
            </a:r>
            <a:r>
              <a:rPr lang="de-DE"/>
              <a:t> variant, not </a:t>
            </a:r>
            <a:r>
              <a:rPr lang="de-DE" err="1"/>
              <a:t>reported</a:t>
            </a:r>
            <a:r>
              <a:rPr lang="de-DE"/>
              <a:t> </a:t>
            </a:r>
            <a:r>
              <a:rPr lang="de-DE" err="1"/>
              <a:t>yet</a:t>
            </a:r>
            <a:r>
              <a:rPr lang="de-DE"/>
              <a:t> + 10% G in </a:t>
            </a:r>
            <a:r>
              <a:rPr lang="de-DE" err="1"/>
              <a:t>reads</a:t>
            </a:r>
            <a:r>
              <a:rPr lang="de-DE"/>
              <a:t> of </a:t>
            </a:r>
            <a:r>
              <a:rPr lang="de-DE" err="1"/>
              <a:t>daughter</a:t>
            </a: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D9B01-30FB-445D-B9A8-C3CD20C01BA9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4213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Because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the variant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is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not an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obvious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loss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of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function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variant and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has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not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yet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been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reported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further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analysis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is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needed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to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assess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the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consequences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on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protein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and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cellular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level</a:t>
            </a:r>
            <a:endParaRPr lang="de-DE" sz="1200" b="0" i="0" u="none" strike="noStrike" dirty="0">
              <a:solidFill>
                <a:schemeClr val="tx1"/>
              </a:solidFill>
              <a:effectLst/>
              <a:latin typeface="+mn-lt"/>
            </a:endParaRPr>
          </a:p>
          <a:p>
            <a:endParaRPr lang="de-DE" sz="1200" b="0" i="0" u="none" strike="noStrike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Hematoxylin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-eosin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stained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paraffin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sections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of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heads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of 7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dpf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larvae</a:t>
            </a:r>
            <a:endParaRPr lang="de-DE" sz="1200" b="0" i="0" u="none" strike="noStrike" dirty="0">
              <a:solidFill>
                <a:schemeClr val="tx1"/>
              </a:solidFill>
              <a:effectLst/>
              <a:latin typeface="+mn-lt"/>
            </a:endParaRPr>
          </a:p>
          <a:p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Using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fibroblasts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and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patient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derived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primary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fibroblasts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A–J) CEDNIK (F110T) and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control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(SV80)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fibroblasts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grown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on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fibronectin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coated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plates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were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interacted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with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anti-β1-integrin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antibody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(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binding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: A and F).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Following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internalization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(B, G),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cells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were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acid-washed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and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chased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for the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indicated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times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(C–E, H–J). After all the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procedures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,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cells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were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fixed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and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immunostained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with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AlexaFluor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488-conjugated anti-mouse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secondary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antibody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. Arrows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indicate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accumulation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of β1-integrin in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enlarged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vesicles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 in CEDNIK </a:t>
            </a:r>
            <a:r>
              <a:rPr lang="de-DE" sz="1200" b="0" i="0" u="none" strike="noStrike" dirty="0" err="1">
                <a:solidFill>
                  <a:schemeClr val="tx1"/>
                </a:solidFill>
                <a:effectLst/>
                <a:latin typeface="+mn-lt"/>
              </a:rPr>
              <a:t>cells</a:t>
            </a:r>
            <a:r>
              <a:rPr lang="de-DE" sz="1200" b="0" i="0" u="none" strike="noStrike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de-DE" dirty="0"/>
          </a:p>
          <a:p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Integrins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transmembrane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receptors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components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extracellular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matrix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(ECM),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link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ECM and the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cytoskeleton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As a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consequence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integrins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play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transmission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signals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intracellular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milieu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de-DE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[31]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undergo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endocytic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recycling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de-DE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[32]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Integrins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play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major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cell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migration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hallmark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epidermal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differentiation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de-DE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[33]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brain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Extend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neurons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artifical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introduction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variant (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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analyse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spindle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formation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and </a:t>
            </a:r>
            <a:r>
              <a:rPr lang="de-DE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mitosis</a:t>
            </a:r>
            <a:r>
              <a:rPr lang="de-DE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)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D9B01-30FB-445D-B9A8-C3CD20C01BA9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0383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3389/fcell.2021.637565" TargetMode="External"/><Relationship Id="rId3" Type="http://schemas.openxmlformats.org/officeDocument/2006/relationships/hyperlink" Target="https://doi.org/10.1158/0008-5472.CAN-23-0816" TargetMode="External"/><Relationship Id="rId7" Type="http://schemas.openxmlformats.org/officeDocument/2006/relationships/hyperlink" Target="https://doi.org/10.1038/s41598-018-37780-4" TargetMode="External"/><Relationship Id="rId2" Type="http://schemas.openxmlformats.org/officeDocument/2006/relationships/hyperlink" Target="https://doi.org/10.1158/2159-8290.CD-12-0095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038/s41586-021-03819-2" TargetMode="External"/><Relationship Id="rId11" Type="http://schemas.openxmlformats.org/officeDocument/2006/relationships/hyperlink" Target="https://doi.org/10.2210/pdb4wy4/pdb" TargetMode="External"/><Relationship Id="rId5" Type="http://schemas.openxmlformats.org/officeDocument/2006/relationships/hyperlink" Target="https://doi.org/10.1126/scisignal.2004088" TargetMode="External"/><Relationship Id="rId10" Type="http://schemas.openxmlformats.org/officeDocument/2006/relationships/hyperlink" Target="https://doi.org/10.1016/j.semcdb.2022.02.024" TargetMode="External"/><Relationship Id="rId4" Type="http://schemas.openxmlformats.org/officeDocument/2006/relationships/hyperlink" Target="https://doi.org/10.1152/physrev.00037.2017" TargetMode="External"/><Relationship Id="rId9" Type="http://schemas.openxmlformats.org/officeDocument/2006/relationships/hyperlink" Target="https://doi.org/10.1371/journal.pone.0009759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9210675"/>
            <a:ext cx="17259300" cy="0"/>
          </a:xfrm>
          <a:prstGeom prst="line">
            <a:avLst/>
          </a:prstGeom>
          <a:ln w="95250" cap="flat">
            <a:solidFill>
              <a:srgbClr val="DDECC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3" name="AutoShape 3"/>
          <p:cNvSpPr/>
          <p:nvPr/>
        </p:nvSpPr>
        <p:spPr>
          <a:xfrm>
            <a:off x="1028700" y="9504035"/>
            <a:ext cx="17259300" cy="0"/>
          </a:xfrm>
          <a:prstGeom prst="line">
            <a:avLst/>
          </a:prstGeom>
          <a:ln w="95250" cap="flat">
            <a:solidFill>
              <a:srgbClr val="DDECC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grpSp>
        <p:nvGrpSpPr>
          <p:cNvPr id="4" name="Group 4"/>
          <p:cNvGrpSpPr/>
          <p:nvPr/>
        </p:nvGrpSpPr>
        <p:grpSpPr>
          <a:xfrm rot="-3252566">
            <a:off x="12991600" y="-1264764"/>
            <a:ext cx="5588483" cy="10729546"/>
            <a:chOff x="0" y="0"/>
            <a:chExt cx="660400" cy="12679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0400" cy="1267928"/>
            </a:xfrm>
            <a:custGeom>
              <a:avLst/>
              <a:gdLst/>
              <a:ahLst/>
              <a:cxnLst/>
              <a:rect l="l" t="t" r="r" b="b"/>
              <a:pathLst>
                <a:path w="660400" h="1267928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8612"/>
                  </a:cubicBezTo>
                  <a:lnTo>
                    <a:pt x="660400" y="1267928"/>
                  </a:lnTo>
                  <a:lnTo>
                    <a:pt x="0" y="1267928"/>
                  </a:lnTo>
                  <a:lnTo>
                    <a:pt x="0" y="33930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DDECC7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8900"/>
              <a:ext cx="660400" cy="1179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3252566">
            <a:off x="14605455" y="1334151"/>
            <a:ext cx="4791943" cy="7286209"/>
            <a:chOff x="0" y="0"/>
            <a:chExt cx="660400" cy="10041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0400" cy="1004146"/>
            </a:xfrm>
            <a:custGeom>
              <a:avLst/>
              <a:gdLst/>
              <a:ahLst/>
              <a:cxnLst/>
              <a:rect l="l" t="t" r="r" b="b"/>
              <a:pathLst>
                <a:path w="660400" h="1004146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752"/>
                  </a:cubicBezTo>
                  <a:lnTo>
                    <a:pt x="660400" y="1004146"/>
                  </a:lnTo>
                  <a:lnTo>
                    <a:pt x="0" y="1004146"/>
                  </a:lnTo>
                  <a:lnTo>
                    <a:pt x="0" y="33325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CFE3B1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88900"/>
              <a:ext cx="660400" cy="915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3252566">
            <a:off x="16739403" y="3133434"/>
            <a:ext cx="2571995" cy="5034071"/>
            <a:chOff x="0" y="0"/>
            <a:chExt cx="660400" cy="12925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0400" cy="1292577"/>
            </a:xfrm>
            <a:custGeom>
              <a:avLst/>
              <a:gdLst/>
              <a:ahLst/>
              <a:cxnLst/>
              <a:rect l="l" t="t" r="r" b="b"/>
              <a:pathLst>
                <a:path w="660400" h="1292577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9159"/>
                  </a:cubicBezTo>
                  <a:lnTo>
                    <a:pt x="660400" y="1292577"/>
                  </a:lnTo>
                  <a:lnTo>
                    <a:pt x="0" y="1292577"/>
                  </a:lnTo>
                  <a:lnTo>
                    <a:pt x="0" y="339867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B9D96A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88900"/>
              <a:ext cx="660400" cy="1203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1028700"/>
            <a:ext cx="487608" cy="48760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FE3B1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2188197"/>
            <a:ext cx="9505789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0" b="1" err="1">
                <a:solidFill>
                  <a:srgbClr val="2D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Cednik</a:t>
            </a:r>
            <a:r>
              <a:rPr lang="en-US" sz="12000" b="1">
                <a:solidFill>
                  <a:srgbClr val="2D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Syndrome </a:t>
            </a:r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735790" y="1037572"/>
            <a:ext cx="8823947" cy="4177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50" b="1" dirty="0">
                <a:solidFill>
                  <a:srgbClr val="2D2D2D"/>
                </a:solidFill>
                <a:latin typeface="Open Sans Bold"/>
                <a:ea typeface="Open Sans Bold"/>
                <a:cs typeface="Open Sans Bold"/>
              </a:rPr>
              <a:t>Genomics and Databases – IMBM5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07BF989-7381-8488-8939-D4703D12F646}"/>
              </a:ext>
            </a:extLst>
          </p:cNvPr>
          <p:cNvGrpSpPr/>
          <p:nvPr/>
        </p:nvGrpSpPr>
        <p:grpSpPr>
          <a:xfrm>
            <a:off x="1028700" y="6905835"/>
            <a:ext cx="2813670" cy="1848643"/>
            <a:chOff x="1028700" y="7115117"/>
            <a:chExt cx="2813670" cy="1848643"/>
          </a:xfrm>
        </p:grpSpPr>
        <p:sp>
          <p:nvSpPr>
            <p:cNvPr id="18" name="TextBox 18"/>
            <p:cNvSpPr txBox="1"/>
            <p:nvPr/>
          </p:nvSpPr>
          <p:spPr>
            <a:xfrm>
              <a:off x="1028700" y="7115117"/>
              <a:ext cx="2813670" cy="4222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2D2D2D"/>
                  </a:solidFill>
                  <a:latin typeface="Aptos" panose="020B0004020202020204" pitchFamily="34" charset="0"/>
                  <a:ea typeface="Open Sans Bold"/>
                  <a:cs typeface="Open Sans Bold"/>
                  <a:sym typeface="Open Sans Bold"/>
                </a:rPr>
                <a:t>Presented by: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8700" y="7648335"/>
              <a:ext cx="2813670" cy="1315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499"/>
                </a:lnSpc>
              </a:pPr>
              <a:r>
                <a:rPr lang="en-US" sz="2450">
                  <a:solidFill>
                    <a:srgbClr val="2D2D2D"/>
                  </a:solidFill>
                  <a:latin typeface="Aptos" panose="020B0004020202020204" pitchFamily="34" charset="0"/>
                  <a:ea typeface="Open Sans"/>
                  <a:cs typeface="Open Sans"/>
                </a:rPr>
                <a:t>Maja Ewen</a:t>
              </a:r>
            </a:p>
            <a:p>
              <a:pPr>
                <a:lnSpc>
                  <a:spcPts val="3499"/>
                </a:lnSpc>
              </a:pPr>
              <a:r>
                <a:rPr lang="en-US" sz="2450">
                  <a:solidFill>
                    <a:srgbClr val="2D2D2D"/>
                  </a:solidFill>
                  <a:latin typeface="Aptos" panose="020B0004020202020204" pitchFamily="34" charset="0"/>
                  <a:ea typeface="Open Sans"/>
                  <a:cs typeface="Open Sans"/>
                </a:rPr>
                <a:t>Melih Gezmen</a:t>
              </a:r>
            </a:p>
            <a:p>
              <a:pPr>
                <a:lnSpc>
                  <a:spcPts val="3499"/>
                </a:lnSpc>
              </a:pPr>
              <a:r>
                <a:rPr lang="en-US" sz="2450">
                  <a:solidFill>
                    <a:srgbClr val="2D2D2D"/>
                  </a:solidFill>
                  <a:latin typeface="Aptos" panose="020B0004020202020204" pitchFamily="34" charset="0"/>
                  <a:ea typeface="Open Sans"/>
                  <a:cs typeface="Open Sans"/>
                </a:rPr>
                <a:t>Flavia Paz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28700" y="6190201"/>
            <a:ext cx="6165574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5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Data Analysis for Corpasome family</a:t>
            </a:r>
            <a:endParaRPr lang="en-US" sz="2450">
              <a:solidFill>
                <a:srgbClr val="2D2D2D"/>
              </a:solidFill>
              <a:latin typeface="Open Sans"/>
              <a:ea typeface="Open Sans"/>
              <a:cs typeface="Open San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821A414-A9A5-8FE3-EAB9-E531CE228A05}"/>
              </a:ext>
            </a:extLst>
          </p:cNvPr>
          <p:cNvGrpSpPr/>
          <p:nvPr/>
        </p:nvGrpSpPr>
        <p:grpSpPr>
          <a:xfrm>
            <a:off x="6325136" y="6905835"/>
            <a:ext cx="2813670" cy="1848643"/>
            <a:chOff x="1028700" y="7115117"/>
            <a:chExt cx="2813670" cy="1848643"/>
          </a:xfrm>
        </p:grpSpPr>
        <p:sp>
          <p:nvSpPr>
            <p:cNvPr id="26" name="TextBox 18">
              <a:extLst>
                <a:ext uri="{FF2B5EF4-FFF2-40B4-BE49-F238E27FC236}">
                  <a16:creationId xmlns:a16="http://schemas.microsoft.com/office/drawing/2014/main" id="{23228A56-9B1C-C564-1945-900FEBD3B84A}"/>
                </a:ext>
              </a:extLst>
            </p:cNvPr>
            <p:cNvSpPr txBox="1"/>
            <p:nvPr/>
          </p:nvSpPr>
          <p:spPr>
            <a:xfrm>
              <a:off x="1028700" y="7115117"/>
              <a:ext cx="2813670" cy="4222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499"/>
                </a:lnSpc>
                <a:spcBef>
                  <a:spcPct val="0"/>
                </a:spcBef>
              </a:pPr>
              <a:r>
                <a:rPr lang="en-US" sz="2450" b="1" dirty="0">
                  <a:solidFill>
                    <a:srgbClr val="2D2D2D"/>
                  </a:solidFill>
                  <a:latin typeface="Aptos" panose="020B0004020202020204" pitchFamily="34" charset="0"/>
                  <a:ea typeface="Open Sans Bold"/>
                  <a:cs typeface="Open Sans Bold"/>
                  <a:sym typeface="Open Sans Bold"/>
                </a:rPr>
                <a:t>Tutored by:</a:t>
              </a:r>
              <a:endParaRPr lang="en-US" dirty="0">
                <a:latin typeface="Aptos" panose="020B0004020202020204" pitchFamily="34" charset="0"/>
              </a:endParaRPr>
            </a:p>
          </p:txBody>
        </p:sp>
        <p:sp>
          <p:nvSpPr>
            <p:cNvPr id="27" name="TextBox 21">
              <a:extLst>
                <a:ext uri="{FF2B5EF4-FFF2-40B4-BE49-F238E27FC236}">
                  <a16:creationId xmlns:a16="http://schemas.microsoft.com/office/drawing/2014/main" id="{27633578-9D87-9FBC-AE32-CA5E772A1E32}"/>
                </a:ext>
              </a:extLst>
            </p:cNvPr>
            <p:cNvSpPr txBox="1"/>
            <p:nvPr/>
          </p:nvSpPr>
          <p:spPr>
            <a:xfrm>
              <a:off x="1028700" y="7648335"/>
              <a:ext cx="2813670" cy="1315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499"/>
                </a:lnSpc>
              </a:pPr>
              <a:r>
                <a:rPr lang="en-US" sz="2450">
                  <a:solidFill>
                    <a:srgbClr val="2D2D2D"/>
                  </a:solidFill>
                  <a:latin typeface="Aptos" panose="020B0004020202020204" pitchFamily="34" charset="0"/>
                  <a:ea typeface="Open Sans"/>
                  <a:cs typeface="Open Sans"/>
                </a:rPr>
                <a:t>Evan Williams</a:t>
              </a:r>
              <a:endParaRPr lang="en-US">
                <a:latin typeface="Aptos" panose="020B0004020202020204" pitchFamily="34" charset="0"/>
              </a:endParaRPr>
            </a:p>
            <a:p>
              <a:pPr>
                <a:lnSpc>
                  <a:spcPts val="3499"/>
                </a:lnSpc>
              </a:pPr>
              <a:r>
                <a:rPr lang="en-US" sz="2450">
                  <a:solidFill>
                    <a:srgbClr val="2D2D2D"/>
                  </a:solidFill>
                  <a:latin typeface="Aptos" panose="020B0004020202020204" pitchFamily="34" charset="0"/>
                  <a:ea typeface="Open Sans"/>
                  <a:cs typeface="Open Sans"/>
                </a:rPr>
                <a:t>Roland Krause</a:t>
              </a:r>
            </a:p>
            <a:p>
              <a:pPr>
                <a:lnSpc>
                  <a:spcPts val="3499"/>
                </a:lnSpc>
              </a:pPr>
              <a:r>
                <a:rPr lang="en-US" sz="2450">
                  <a:solidFill>
                    <a:srgbClr val="2D2D2D"/>
                  </a:solidFill>
                  <a:latin typeface="Aptos" panose="020B0004020202020204" pitchFamily="34" charset="0"/>
                  <a:ea typeface="Open Sans"/>
                  <a:cs typeface="Open Sans"/>
                </a:rPr>
                <a:t>Patrick May</a:t>
              </a:r>
            </a:p>
          </p:txBody>
        </p:sp>
      </p:grpSp>
      <p:pic>
        <p:nvPicPr>
          <p:cNvPr id="17" name="Picture 9" descr="LCSB_kurz_4c_gross.eps">
            <a:extLst>
              <a:ext uri="{FF2B5EF4-FFF2-40B4-BE49-F238E27FC236}">
                <a16:creationId xmlns:a16="http://schemas.microsoft.com/office/drawing/2014/main" id="{94DB8711-39F7-22EF-19C0-B6086C65E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7300" y="158624"/>
            <a:ext cx="76200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0" descr="Logo_Uni_quadri_7cm.eps.eps">
            <a:extLst>
              <a:ext uri="{FF2B5EF4-FFF2-40B4-BE49-F238E27FC236}">
                <a16:creationId xmlns:a16="http://schemas.microsoft.com/office/drawing/2014/main" id="{432B1D1E-2633-7205-0ECE-E07B56DAB3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0575" y="217361"/>
            <a:ext cx="7207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23DCD-E396-A611-BBCA-615832F08C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774" y="195263"/>
            <a:ext cx="7772400" cy="2570162"/>
          </a:xfrm>
        </p:spPr>
        <p:txBody>
          <a:bodyPr/>
          <a:lstStyle/>
          <a:p>
            <a:r>
              <a:rPr lang="en-US" sz="4800">
                <a:latin typeface="Montserrat Bold"/>
                <a:ea typeface="Calibri"/>
                <a:cs typeface="Calibri"/>
              </a:rPr>
              <a:t>CEDNIK Syndrome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92D5D6-4385-8E7B-641C-CF60AF998A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148" y="2878280"/>
            <a:ext cx="6507551" cy="22677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600" dirty="0">
                <a:solidFill>
                  <a:srgbClr val="000000"/>
                </a:solidFill>
                <a:latin typeface="Aptos"/>
              </a:rPr>
              <a:t>Neurocutaneous syndrome, characterized by cerebral dysgenesis, neuropathy, ichthyosis, and keratoderma, or CEDNIK syndrome (</a:t>
            </a:r>
            <a:r>
              <a:rPr lang="en-US" sz="2600" dirty="0">
                <a:solidFill>
                  <a:srgbClr val="000000"/>
                </a:solidFill>
                <a:highlight>
                  <a:srgbClr val="FFFFFF"/>
                </a:highlight>
                <a:latin typeface="Aptos"/>
              </a:rPr>
              <a:t>609528</a:t>
            </a:r>
            <a:r>
              <a:rPr lang="en-US" sz="2600" dirty="0">
                <a:solidFill>
                  <a:srgbClr val="000000"/>
                </a:solidFill>
                <a:latin typeface="Aptos"/>
              </a:rPr>
              <a:t>) for short, is an autosomal recessive genetic disorder.</a:t>
            </a:r>
            <a:endParaRPr lang="en-US" sz="2600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28AC039-9AD2-6E0E-0ABD-1AFDD9B5705B}"/>
              </a:ext>
            </a:extLst>
          </p:cNvPr>
          <p:cNvGrpSpPr/>
          <p:nvPr/>
        </p:nvGrpSpPr>
        <p:grpSpPr>
          <a:xfrm>
            <a:off x="0" y="9210675"/>
            <a:ext cx="18288000" cy="293360"/>
            <a:chOff x="0" y="9210675"/>
            <a:chExt cx="18288000" cy="293360"/>
          </a:xfrm>
        </p:grpSpPr>
        <p:sp>
          <p:nvSpPr>
            <p:cNvPr id="5" name="AutoShape 24">
              <a:extLst>
                <a:ext uri="{FF2B5EF4-FFF2-40B4-BE49-F238E27FC236}">
                  <a16:creationId xmlns:a16="http://schemas.microsoft.com/office/drawing/2014/main" id="{C592BA2E-67B9-2841-C483-535EDA4C1BE5}"/>
                </a:ext>
              </a:extLst>
            </p:cNvPr>
            <p:cNvSpPr/>
            <p:nvPr/>
          </p:nvSpPr>
          <p:spPr>
            <a:xfrm>
              <a:off x="0" y="9210675"/>
              <a:ext cx="17259300" cy="0"/>
            </a:xfrm>
            <a:prstGeom prst="line">
              <a:avLst/>
            </a:prstGeom>
            <a:ln w="95250" cap="flat">
              <a:solidFill>
                <a:srgbClr val="DDECC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" name="AutoShape 25">
              <a:extLst>
                <a:ext uri="{FF2B5EF4-FFF2-40B4-BE49-F238E27FC236}">
                  <a16:creationId xmlns:a16="http://schemas.microsoft.com/office/drawing/2014/main" id="{A2C3555D-8A18-6F81-599A-4E9557CFD92D}"/>
                </a:ext>
              </a:extLst>
            </p:cNvPr>
            <p:cNvSpPr/>
            <p:nvPr/>
          </p:nvSpPr>
          <p:spPr>
            <a:xfrm>
              <a:off x="1028700" y="9504035"/>
              <a:ext cx="17259300" cy="0"/>
            </a:xfrm>
            <a:prstGeom prst="line">
              <a:avLst/>
            </a:prstGeom>
            <a:ln w="95250" cap="flat">
              <a:solidFill>
                <a:srgbClr val="DDECC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de-DE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E53A823-5E4D-C191-7D0B-CB2715033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105" y="1481069"/>
            <a:ext cx="5030677" cy="59081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380A7C-EE42-B9AE-B1D6-A1344AE09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0125" y="1481070"/>
            <a:ext cx="4872906" cy="59081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9A7EE0-187A-73C3-0BE3-FE6628276709}"/>
              </a:ext>
            </a:extLst>
          </p:cNvPr>
          <p:cNvSpPr txBox="1"/>
          <p:nvPr/>
        </p:nvSpPr>
        <p:spPr>
          <a:xfrm>
            <a:off x="160986" y="8492008"/>
            <a:ext cx="1796602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solidFill>
                  <a:srgbClr val="BFBFBF"/>
                </a:solidFill>
              </a:rPr>
              <a:t>Figure 1: Lorenzo-Ríos D, Guerrero-García A, Colón-Fontánez F. Keratoderma and ichthyosis as valuable features for the diagnosis of CEDNIK syndrome JAAD Case Reports, 2023; 46, 64-66</a:t>
            </a:r>
          </a:p>
          <a:p>
            <a:r>
              <a:rPr lang="en-US" sz="1400" dirty="0">
                <a:solidFill>
                  <a:srgbClr val="BFBFBF"/>
                </a:solidFill>
              </a:rPr>
              <a:t>Figure 2: A. Y. Mah-Som </a:t>
            </a:r>
            <a:r>
              <a:rPr lang="en-US" sz="1400" i="1" dirty="0">
                <a:solidFill>
                  <a:srgbClr val="BFBFBF"/>
                </a:solidFill>
              </a:rPr>
              <a:t>et al.</a:t>
            </a:r>
            <a:r>
              <a:rPr lang="en-US" sz="1400" dirty="0">
                <a:solidFill>
                  <a:srgbClr val="BFBFBF"/>
                </a:solidFill>
              </a:rPr>
              <a:t>, "New Cohort of Patients With CEDNIK Syndrome Expands the Phenotypic and Genotypic Spectra," </a:t>
            </a:r>
            <a:r>
              <a:rPr lang="en-US" sz="1400" i="1" dirty="0">
                <a:solidFill>
                  <a:srgbClr val="BFBFBF"/>
                </a:solidFill>
              </a:rPr>
              <a:t>Neurology: Genetics</a:t>
            </a:r>
            <a:r>
              <a:rPr lang="en-US" sz="1400" dirty="0">
                <a:solidFill>
                  <a:srgbClr val="BFBFBF"/>
                </a:solidFill>
              </a:rPr>
              <a:t>, vol. 7, no. 1, p. e553, Feb. 2021, </a:t>
            </a:r>
            <a:r>
              <a:rPr lang="en-US" sz="1400" dirty="0" err="1">
                <a:solidFill>
                  <a:srgbClr val="BFBFBF"/>
                </a:solidFill>
              </a:rPr>
              <a:t>doi</a:t>
            </a:r>
            <a:r>
              <a:rPr lang="en-US" sz="1400" dirty="0">
                <a:solidFill>
                  <a:srgbClr val="BFBFBF"/>
                </a:solidFill>
              </a:rPr>
              <a:t>: 10.1212/NXG.0000000000000553.</a:t>
            </a:r>
            <a:endParaRPr lang="en-US" sz="1400" dirty="0">
              <a:solidFill>
                <a:srgbClr val="BFBFBF"/>
              </a:solidFill>
              <a:ea typeface="Calibri"/>
              <a:cs typeface="Calibri"/>
            </a:endParaRPr>
          </a:p>
          <a:p>
            <a:pPr algn="ctr"/>
            <a:endParaRPr lang="en-US" sz="1400" dirty="0">
              <a:solidFill>
                <a:srgbClr val="BFBFB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5613C-890E-1F0A-D535-2AE061145024}"/>
              </a:ext>
            </a:extLst>
          </p:cNvPr>
          <p:cNvSpPr txBox="1"/>
          <p:nvPr/>
        </p:nvSpPr>
        <p:spPr>
          <a:xfrm>
            <a:off x="7856112" y="7381204"/>
            <a:ext cx="1001332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Calibri"/>
                <a:cs typeface="Calibri"/>
              </a:rPr>
              <a:t>Figure 1: </a:t>
            </a:r>
            <a:r>
              <a:rPr lang="en-US">
                <a:ea typeface="Calibri"/>
                <a:cs typeface="Calibri"/>
              </a:rPr>
              <a:t>Skin </a:t>
            </a:r>
            <a:r>
              <a:rPr lang="en-US">
                <a:solidFill>
                  <a:srgbClr val="2E2E2E"/>
                </a:solidFill>
                <a:highlight>
                  <a:srgbClr val="FFFFFF"/>
                </a:highlight>
              </a:rPr>
              <a:t>Keratoderma and ichthyosis</a:t>
            </a:r>
            <a:endParaRPr lang="en-US"/>
          </a:p>
          <a:p>
            <a:r>
              <a:rPr lang="en-US" b="1">
                <a:ea typeface="Calibri"/>
                <a:cs typeface="Calibri"/>
              </a:rPr>
              <a:t>Figure 2:</a:t>
            </a:r>
            <a:r>
              <a:rPr lang="en-US">
                <a:ea typeface="Calibri"/>
                <a:cs typeface="Calibri"/>
              </a:rPr>
              <a:t> Brain MRI of Patient 1 Shows Corpus Callosum Dysgenesis and Loss of Supratentorial Myelin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05679BD4-68E8-253E-27BE-7F79B92863F3}"/>
              </a:ext>
            </a:extLst>
          </p:cNvPr>
          <p:cNvSpPr txBox="1">
            <a:spLocks/>
          </p:cNvSpPr>
          <p:nvPr/>
        </p:nvSpPr>
        <p:spPr>
          <a:xfrm>
            <a:off x="721661" y="2885793"/>
            <a:ext cx="6507551" cy="226775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600">
                <a:solidFill>
                  <a:srgbClr val="000000"/>
                </a:solidFill>
                <a:latin typeface="Aptos"/>
              </a:rPr>
              <a:t>Neurocutaneous syndrome, characterized by </a:t>
            </a:r>
            <a:r>
              <a:rPr lang="en-US" sz="2600" b="1">
                <a:solidFill>
                  <a:srgbClr val="000000"/>
                </a:solidFill>
                <a:latin typeface="Aptos"/>
              </a:rPr>
              <a:t>ce</a:t>
            </a:r>
            <a:r>
              <a:rPr lang="en-US" sz="2600">
                <a:solidFill>
                  <a:srgbClr val="000000"/>
                </a:solidFill>
                <a:latin typeface="Aptos"/>
              </a:rPr>
              <a:t>rebral </a:t>
            </a:r>
            <a:r>
              <a:rPr lang="en-US" sz="2600" b="1">
                <a:solidFill>
                  <a:srgbClr val="000000"/>
                </a:solidFill>
                <a:latin typeface="Aptos"/>
              </a:rPr>
              <a:t>d</a:t>
            </a:r>
            <a:r>
              <a:rPr lang="en-US" sz="2600">
                <a:solidFill>
                  <a:srgbClr val="000000"/>
                </a:solidFill>
                <a:latin typeface="Aptos"/>
              </a:rPr>
              <a:t>ysgenesis, </a:t>
            </a:r>
            <a:r>
              <a:rPr lang="en-US" sz="2600" b="1">
                <a:solidFill>
                  <a:srgbClr val="000000"/>
                </a:solidFill>
                <a:latin typeface="Aptos"/>
              </a:rPr>
              <a:t>n</a:t>
            </a:r>
            <a:r>
              <a:rPr lang="en-US" sz="2600">
                <a:solidFill>
                  <a:srgbClr val="000000"/>
                </a:solidFill>
                <a:latin typeface="Aptos"/>
              </a:rPr>
              <a:t>europathy, </a:t>
            </a:r>
            <a:r>
              <a:rPr lang="en-US" sz="2600" b="1">
                <a:solidFill>
                  <a:srgbClr val="000000"/>
                </a:solidFill>
                <a:latin typeface="Aptos"/>
              </a:rPr>
              <a:t>i</a:t>
            </a:r>
            <a:r>
              <a:rPr lang="en-US" sz="2600">
                <a:solidFill>
                  <a:srgbClr val="000000"/>
                </a:solidFill>
                <a:latin typeface="Aptos"/>
              </a:rPr>
              <a:t>chthyosis, and </a:t>
            </a:r>
            <a:r>
              <a:rPr lang="en-US" sz="2600" b="1">
                <a:solidFill>
                  <a:srgbClr val="000000"/>
                </a:solidFill>
                <a:latin typeface="Aptos"/>
              </a:rPr>
              <a:t>k</a:t>
            </a:r>
            <a:r>
              <a:rPr lang="en-US" sz="2600">
                <a:solidFill>
                  <a:srgbClr val="000000"/>
                </a:solidFill>
                <a:latin typeface="Aptos"/>
              </a:rPr>
              <a:t>eratoderma, or </a:t>
            </a:r>
            <a:r>
              <a:rPr lang="en-US" sz="2600" b="1">
                <a:solidFill>
                  <a:srgbClr val="000000"/>
                </a:solidFill>
                <a:latin typeface="Aptos"/>
              </a:rPr>
              <a:t>CEDNIK</a:t>
            </a:r>
            <a:r>
              <a:rPr lang="en-US" sz="2600">
                <a:solidFill>
                  <a:srgbClr val="000000"/>
                </a:solidFill>
                <a:latin typeface="Aptos"/>
              </a:rPr>
              <a:t> syndrome (</a:t>
            </a:r>
            <a:r>
              <a:rPr lang="en-US" sz="2600">
                <a:solidFill>
                  <a:srgbClr val="000000"/>
                </a:solidFill>
                <a:highlight>
                  <a:srgbClr val="FFFFFF"/>
                </a:highlight>
                <a:latin typeface="Aptos"/>
              </a:rPr>
              <a:t>609528</a:t>
            </a:r>
            <a:r>
              <a:rPr lang="en-US" sz="2600">
                <a:solidFill>
                  <a:srgbClr val="000000"/>
                </a:solidFill>
                <a:latin typeface="Aptos"/>
              </a:rPr>
              <a:t>) for short, is an autosomal recessive genetic disorder.</a:t>
            </a:r>
            <a:endParaRPr lang="en-US" sz="260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532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D5826-E8CE-CC91-3879-5C58E9897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017" y="1284520"/>
            <a:ext cx="7371747" cy="38659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600">
                <a:latin typeface="Aptos"/>
              </a:rPr>
              <a:t>This disease is caused by a loss-of-function variant in SNAP29 in 22q11.2 region (synaptosomal-associated protein 29), which encodes a SNARE protein, a vesicular membrane fusion protein.</a:t>
            </a:r>
            <a:endParaRPr lang="en-US" sz="2600">
              <a:latin typeface="Aptos"/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DE514C2-B56C-196A-387B-6863C1BB3653}"/>
              </a:ext>
            </a:extLst>
          </p:cNvPr>
          <p:cNvGrpSpPr/>
          <p:nvPr/>
        </p:nvGrpSpPr>
        <p:grpSpPr>
          <a:xfrm>
            <a:off x="0" y="9210675"/>
            <a:ext cx="18288000" cy="293360"/>
            <a:chOff x="0" y="9210675"/>
            <a:chExt cx="18288000" cy="293360"/>
          </a:xfrm>
        </p:grpSpPr>
        <p:sp>
          <p:nvSpPr>
            <p:cNvPr id="4" name="AutoShape 24">
              <a:extLst>
                <a:ext uri="{FF2B5EF4-FFF2-40B4-BE49-F238E27FC236}">
                  <a16:creationId xmlns:a16="http://schemas.microsoft.com/office/drawing/2014/main" id="{1CAE8E2F-DC66-7B7A-908B-D17B2413916B}"/>
                </a:ext>
              </a:extLst>
            </p:cNvPr>
            <p:cNvSpPr/>
            <p:nvPr/>
          </p:nvSpPr>
          <p:spPr>
            <a:xfrm>
              <a:off x="0" y="9210675"/>
              <a:ext cx="17259300" cy="0"/>
            </a:xfrm>
            <a:prstGeom prst="line">
              <a:avLst/>
            </a:prstGeom>
            <a:ln w="95250" cap="flat">
              <a:solidFill>
                <a:srgbClr val="DDECC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" name="AutoShape 25">
              <a:extLst>
                <a:ext uri="{FF2B5EF4-FFF2-40B4-BE49-F238E27FC236}">
                  <a16:creationId xmlns:a16="http://schemas.microsoft.com/office/drawing/2014/main" id="{2BF5DD9A-AACE-70F0-0F4A-6FC0594FCB26}"/>
                </a:ext>
              </a:extLst>
            </p:cNvPr>
            <p:cNvSpPr/>
            <p:nvPr/>
          </p:nvSpPr>
          <p:spPr>
            <a:xfrm>
              <a:off x="1028700" y="9504035"/>
              <a:ext cx="17259300" cy="0"/>
            </a:xfrm>
            <a:prstGeom prst="line">
              <a:avLst/>
            </a:prstGeom>
            <a:ln w="95250" cap="flat">
              <a:solidFill>
                <a:srgbClr val="DDECC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999463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DAF8028-EB62-C164-F395-E7089D9E68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200" y="1351510"/>
            <a:ext cx="16357599" cy="75839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A9104F-79BA-7018-DF72-18DD5CF25FE1}"/>
              </a:ext>
            </a:extLst>
          </p:cNvPr>
          <p:cNvSpPr txBox="1"/>
          <p:nvPr/>
        </p:nvSpPr>
        <p:spPr>
          <a:xfrm>
            <a:off x="1308735" y="9537772"/>
            <a:ext cx="652843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dirty="0">
                <a:ea typeface="+mn-lt"/>
                <a:cs typeface="+mn-lt"/>
              </a:rPr>
              <a:t>Schiller et al, 2016</a:t>
            </a:r>
          </a:p>
          <a:p>
            <a:pPr algn="l"/>
            <a:r>
              <a:rPr lang="en-US" sz="1000" dirty="0">
                <a:ea typeface="+mn-lt"/>
                <a:cs typeface="+mn-lt"/>
              </a:rPr>
              <a:t>https://</a:t>
            </a:r>
            <a:r>
              <a:rPr lang="en-US" sz="1000" dirty="0" err="1">
                <a:ea typeface="+mn-lt"/>
                <a:cs typeface="+mn-lt"/>
              </a:rPr>
              <a:t>www.cell.com</a:t>
            </a:r>
            <a:r>
              <a:rPr lang="en-US" sz="1000" dirty="0">
                <a:ea typeface="+mn-lt"/>
                <a:cs typeface="+mn-lt"/>
              </a:rPr>
              <a:t>/</a:t>
            </a:r>
            <a:r>
              <a:rPr lang="en-US" sz="1000" dirty="0" err="1">
                <a:ea typeface="+mn-lt"/>
                <a:cs typeface="+mn-lt"/>
              </a:rPr>
              <a:t>cms</a:t>
            </a:r>
            <a:r>
              <a:rPr lang="en-US" sz="1000" dirty="0">
                <a:ea typeface="+mn-lt"/>
                <a:cs typeface="+mn-lt"/>
              </a:rPr>
              <a:t>/10.1086/432556/asset/fa218e55-f090-441e-92c9-984271935749/</a:t>
            </a:r>
            <a:r>
              <a:rPr lang="en-US" sz="1000" dirty="0" err="1">
                <a:ea typeface="+mn-lt"/>
                <a:cs typeface="+mn-lt"/>
              </a:rPr>
              <a:t>main.assets</a:t>
            </a:r>
            <a:r>
              <a:rPr lang="en-US" sz="1000" dirty="0">
                <a:ea typeface="+mn-lt"/>
                <a:cs typeface="+mn-lt"/>
              </a:rPr>
              <a:t>/gr6_lrg.jpg</a:t>
            </a:r>
            <a:endParaRPr lang="en-US" sz="1000" dirty="0">
              <a:ea typeface="Calibri"/>
              <a:cs typeface="Calibri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8D65B27-BFC4-798B-27C7-79D2BA0EA086}"/>
              </a:ext>
            </a:extLst>
          </p:cNvPr>
          <p:cNvGrpSpPr/>
          <p:nvPr/>
        </p:nvGrpSpPr>
        <p:grpSpPr>
          <a:xfrm rot="5400000">
            <a:off x="-8757634" y="1000393"/>
            <a:ext cx="18288000" cy="293360"/>
            <a:chOff x="273676" y="8293055"/>
            <a:chExt cx="18288000" cy="293360"/>
          </a:xfrm>
        </p:grpSpPr>
        <p:sp>
          <p:nvSpPr>
            <p:cNvPr id="13" name="AutoShape 24">
              <a:extLst>
                <a:ext uri="{FF2B5EF4-FFF2-40B4-BE49-F238E27FC236}">
                  <a16:creationId xmlns:a16="http://schemas.microsoft.com/office/drawing/2014/main" id="{F7982885-5A36-FE71-6325-68493B00FCD1}"/>
                </a:ext>
              </a:extLst>
            </p:cNvPr>
            <p:cNvSpPr/>
            <p:nvPr/>
          </p:nvSpPr>
          <p:spPr>
            <a:xfrm>
              <a:off x="273676" y="8293055"/>
              <a:ext cx="17259300" cy="0"/>
            </a:xfrm>
            <a:prstGeom prst="line">
              <a:avLst/>
            </a:prstGeom>
            <a:ln w="95250" cap="flat">
              <a:solidFill>
                <a:srgbClr val="DDECC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AutoShape 25">
              <a:extLst>
                <a:ext uri="{FF2B5EF4-FFF2-40B4-BE49-F238E27FC236}">
                  <a16:creationId xmlns:a16="http://schemas.microsoft.com/office/drawing/2014/main" id="{194B40F2-59B7-D304-BE18-B9D73F62EA71}"/>
                </a:ext>
              </a:extLst>
            </p:cNvPr>
            <p:cNvSpPr/>
            <p:nvPr/>
          </p:nvSpPr>
          <p:spPr>
            <a:xfrm>
              <a:off x="1302376" y="8586415"/>
              <a:ext cx="17259300" cy="0"/>
            </a:xfrm>
            <a:prstGeom prst="line">
              <a:avLst/>
            </a:prstGeom>
            <a:ln w="95250" cap="flat">
              <a:solidFill>
                <a:srgbClr val="DDECC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8023695-6576-118F-9F6A-4D8C94C64D1E}"/>
              </a:ext>
            </a:extLst>
          </p:cNvPr>
          <p:cNvSpPr txBox="1"/>
          <p:nvPr/>
        </p:nvSpPr>
        <p:spPr>
          <a:xfrm>
            <a:off x="1260439" y="9135307"/>
            <a:ext cx="1306446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Figure 3.</a:t>
            </a:r>
            <a:r>
              <a:rPr lang="en-US" sz="2000">
                <a:ea typeface="Calibri"/>
                <a:cs typeface="Calibri"/>
              </a:rPr>
              <a:t> CEDNIK </a:t>
            </a:r>
            <a:r>
              <a:rPr lang="en-US" sz="2000">
                <a:ea typeface="+mn-lt"/>
                <a:cs typeface="+mn-lt"/>
              </a:rPr>
              <a:t>molecular mechanisms of epidermal barrier disruption.</a:t>
            </a:r>
            <a:endParaRPr lang="en-US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6157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FD771-B795-B4CF-05FF-CF858F74A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31731" y="681913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>
                <a:latin typeface="Montserrat Bold"/>
                <a:ea typeface="Calibri"/>
                <a:cs typeface="Calibri"/>
              </a:rPr>
              <a:t>Symptoms</a:t>
            </a:r>
            <a:endParaRPr lang="en-US" sz="4800">
              <a:latin typeface="Montserrat Bold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80DD5E-1456-B5E3-6B32-E397A5BA2EC9}"/>
              </a:ext>
            </a:extLst>
          </p:cNvPr>
          <p:cNvGrpSpPr/>
          <p:nvPr/>
        </p:nvGrpSpPr>
        <p:grpSpPr>
          <a:xfrm>
            <a:off x="0" y="9210675"/>
            <a:ext cx="18288000" cy="293360"/>
            <a:chOff x="0" y="9210675"/>
            <a:chExt cx="18288000" cy="293360"/>
          </a:xfrm>
        </p:grpSpPr>
        <p:sp>
          <p:nvSpPr>
            <p:cNvPr id="5" name="AutoShape 24">
              <a:extLst>
                <a:ext uri="{FF2B5EF4-FFF2-40B4-BE49-F238E27FC236}">
                  <a16:creationId xmlns:a16="http://schemas.microsoft.com/office/drawing/2014/main" id="{C0BC79B9-ABB7-AF49-E8B4-69D5992C0448}"/>
                </a:ext>
              </a:extLst>
            </p:cNvPr>
            <p:cNvSpPr/>
            <p:nvPr/>
          </p:nvSpPr>
          <p:spPr>
            <a:xfrm>
              <a:off x="0" y="9210675"/>
              <a:ext cx="17259300" cy="0"/>
            </a:xfrm>
            <a:prstGeom prst="line">
              <a:avLst/>
            </a:prstGeom>
            <a:ln w="95250" cap="flat">
              <a:solidFill>
                <a:srgbClr val="DDECC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" name="AutoShape 25">
              <a:extLst>
                <a:ext uri="{FF2B5EF4-FFF2-40B4-BE49-F238E27FC236}">
                  <a16:creationId xmlns:a16="http://schemas.microsoft.com/office/drawing/2014/main" id="{9485CE00-596A-BB80-4ACF-9C6AA8864577}"/>
                </a:ext>
              </a:extLst>
            </p:cNvPr>
            <p:cNvSpPr/>
            <p:nvPr/>
          </p:nvSpPr>
          <p:spPr>
            <a:xfrm>
              <a:off x="1028700" y="9504035"/>
              <a:ext cx="17259300" cy="0"/>
            </a:xfrm>
            <a:prstGeom prst="line">
              <a:avLst/>
            </a:prstGeom>
            <a:ln w="95250" cap="flat">
              <a:solidFill>
                <a:srgbClr val="DDECC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de-DE"/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AD3896-24DB-19EE-D840-3A022DDAD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963079"/>
              </p:ext>
            </p:extLst>
          </p:nvPr>
        </p:nvGraphicFramePr>
        <p:xfrm>
          <a:off x="4732342" y="2235643"/>
          <a:ext cx="8837954" cy="580969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4418977">
                  <a:extLst>
                    <a:ext uri="{9D8B030D-6E8A-4147-A177-3AD203B41FA5}">
                      <a16:colId xmlns:a16="http://schemas.microsoft.com/office/drawing/2014/main" val="3215961350"/>
                    </a:ext>
                  </a:extLst>
                </a:gridCol>
                <a:gridCol w="4418977">
                  <a:extLst>
                    <a:ext uri="{9D8B030D-6E8A-4147-A177-3AD203B41FA5}">
                      <a16:colId xmlns:a16="http://schemas.microsoft.com/office/drawing/2014/main" val="1720153204"/>
                    </a:ext>
                  </a:extLst>
                </a:gridCol>
              </a:tblGrid>
              <a:tr h="11515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u="none" strike="noStrike" noProof="0">
                          <a:latin typeface="Aptos"/>
                        </a:rPr>
                        <a:t>Human Phenotype Ontology</a:t>
                      </a:r>
                      <a:endParaRPr lang="en-US" sz="2800">
                        <a:latin typeface="Apto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u="none" strike="noStrike" kern="1200">
                          <a:solidFill>
                            <a:schemeClr val="bg1"/>
                          </a:solidFill>
                          <a:latin typeface="Aptos"/>
                          <a:ea typeface="+mn-ea"/>
                          <a:cs typeface="+mn-cs"/>
                        </a:rPr>
                        <a:t>Phenotype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564830"/>
                  </a:ext>
                </a:extLst>
              </a:tr>
              <a:tr h="931633">
                <a:tc>
                  <a:txBody>
                    <a:bodyPr/>
                    <a:lstStyle/>
                    <a:p>
                      <a:pPr algn="l"/>
                      <a:r>
                        <a:rPr lang="en-US" sz="2400">
                          <a:latin typeface="Aptos"/>
                        </a:rPr>
                        <a:t>HP: 0000252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6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Microcephaly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573132"/>
                  </a:ext>
                </a:extLst>
              </a:tr>
              <a:tr h="931633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6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HP:0001263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6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Global developmental delay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408117"/>
                  </a:ext>
                </a:extLst>
              </a:tr>
              <a:tr h="931633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6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HP:0001251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6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Ataxia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925878"/>
                  </a:ext>
                </a:extLst>
              </a:tr>
              <a:tr h="931633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6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HP:0008064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6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Ichthyosis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256174"/>
                  </a:ext>
                </a:extLst>
              </a:tr>
              <a:tr h="931633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6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HP:0007447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6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Diffuse palmoplantar hyperkeratosis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9660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0006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01230-DD29-2ED9-DF93-9B6C2738F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02" y="787018"/>
            <a:ext cx="5074277" cy="1143000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latin typeface="Montserrat Bold"/>
                <a:ea typeface="Calibri"/>
                <a:cs typeface="Calibri"/>
              </a:rPr>
              <a:t>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ED7CD-230A-03E5-1220-7EF9AAFAF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218" y="1930610"/>
            <a:ext cx="8214629" cy="742813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600">
                <a:latin typeface="Aptos"/>
              </a:rPr>
              <a:t>A 3-year-old girl was referred for severe developmental delay and a progressive skin disorder. She has microcephaly, poor motor development and marked delay of all developmental milestones. Neurological examination shows impaired coordination. </a:t>
            </a:r>
            <a:endParaRPr lang="en-US" sz="2600">
              <a:latin typeface="Aptos"/>
              <a:ea typeface="Calibri"/>
              <a:cs typeface="Calibri"/>
            </a:endParaRPr>
          </a:p>
          <a:p>
            <a:r>
              <a:rPr lang="en-US" sz="2600">
                <a:latin typeface="Aptos"/>
              </a:rPr>
              <a:t>During the second year of life she developed generalized ichthyosis and pronounced thickening of the palms and soles. Both parents are clinically healthy. </a:t>
            </a:r>
            <a:endParaRPr lang="en-US" sz="2600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6AC875C-08BC-04DF-7959-4BDE5119E85A}"/>
              </a:ext>
            </a:extLst>
          </p:cNvPr>
          <p:cNvGrpSpPr/>
          <p:nvPr/>
        </p:nvGrpSpPr>
        <p:grpSpPr>
          <a:xfrm>
            <a:off x="0" y="9210675"/>
            <a:ext cx="18288000" cy="293360"/>
            <a:chOff x="0" y="9210675"/>
            <a:chExt cx="18288000" cy="293360"/>
          </a:xfrm>
        </p:grpSpPr>
        <p:sp>
          <p:nvSpPr>
            <p:cNvPr id="9" name="AutoShape 24">
              <a:extLst>
                <a:ext uri="{FF2B5EF4-FFF2-40B4-BE49-F238E27FC236}">
                  <a16:creationId xmlns:a16="http://schemas.microsoft.com/office/drawing/2014/main" id="{617486C5-A8C1-BCB7-EDE5-EA0FDC2855DA}"/>
                </a:ext>
              </a:extLst>
            </p:cNvPr>
            <p:cNvSpPr/>
            <p:nvPr/>
          </p:nvSpPr>
          <p:spPr>
            <a:xfrm>
              <a:off x="0" y="9210675"/>
              <a:ext cx="17259300" cy="0"/>
            </a:xfrm>
            <a:prstGeom prst="line">
              <a:avLst/>
            </a:prstGeom>
            <a:ln w="95250" cap="flat">
              <a:solidFill>
                <a:srgbClr val="DDECC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AutoShape 25">
              <a:extLst>
                <a:ext uri="{FF2B5EF4-FFF2-40B4-BE49-F238E27FC236}">
                  <a16:creationId xmlns:a16="http://schemas.microsoft.com/office/drawing/2014/main" id="{99A5BE2B-AABF-21C8-DEFA-B1303A3CCC66}"/>
                </a:ext>
              </a:extLst>
            </p:cNvPr>
            <p:cNvSpPr/>
            <p:nvPr/>
          </p:nvSpPr>
          <p:spPr>
            <a:xfrm>
              <a:off x="1028700" y="9504035"/>
              <a:ext cx="17259300" cy="0"/>
            </a:xfrm>
            <a:prstGeom prst="line">
              <a:avLst/>
            </a:prstGeom>
            <a:ln w="95250" cap="flat">
              <a:solidFill>
                <a:srgbClr val="DDECC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de-DE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745BC48-3D8D-C98E-64D1-68A82CED5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922" y="5708051"/>
            <a:ext cx="4945380" cy="3097530"/>
          </a:xfrm>
          <a:prstGeom prst="rect">
            <a:avLst/>
          </a:prstGeom>
        </p:spPr>
      </p:pic>
      <p:sp>
        <p:nvSpPr>
          <p:cNvPr id="5" name="TextBox 29">
            <a:extLst>
              <a:ext uri="{FF2B5EF4-FFF2-40B4-BE49-F238E27FC236}">
                <a16:creationId xmlns:a16="http://schemas.microsoft.com/office/drawing/2014/main" id="{E1DBA31C-6ED8-0F5F-1D29-0CC7A7464B6B}"/>
              </a:ext>
            </a:extLst>
          </p:cNvPr>
          <p:cNvSpPr txBox="1"/>
          <p:nvPr/>
        </p:nvSpPr>
        <p:spPr>
          <a:xfrm>
            <a:off x="10200640" y="551906"/>
            <a:ext cx="5116286" cy="173124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>
                <a:solidFill>
                  <a:srgbClr val="2D2D2D"/>
                </a:solidFill>
                <a:latin typeface="Montserrat Bold"/>
                <a:cs typeface="Segoe UI"/>
              </a:rPr>
              <a:t>WES – Raw Data</a:t>
            </a:r>
            <a:endParaRPr lang="en-US"/>
          </a:p>
          <a:p>
            <a:pPr algn="ctr"/>
            <a:endParaRPr lang="en-US" sz="1050"/>
          </a:p>
        </p:txBody>
      </p:sp>
      <p:sp>
        <p:nvSpPr>
          <p:cNvPr id="6" name="Textfeld 23">
            <a:extLst>
              <a:ext uri="{FF2B5EF4-FFF2-40B4-BE49-F238E27FC236}">
                <a16:creationId xmlns:a16="http://schemas.microsoft.com/office/drawing/2014/main" id="{904CBC9A-6453-41FD-AA84-4D3A1B223595}"/>
              </a:ext>
            </a:extLst>
          </p:cNvPr>
          <p:cNvSpPr txBox="1"/>
          <p:nvPr/>
        </p:nvSpPr>
        <p:spPr>
          <a:xfrm>
            <a:off x="9894350" y="2790653"/>
            <a:ext cx="5562465" cy="50962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/>
              <a:buChar char="Ø"/>
            </a:pPr>
            <a:r>
              <a:rPr lang="de-DE" sz="2000">
                <a:latin typeface="Montserrat Bold"/>
              </a:rPr>
              <a:t>The Corpas Project</a:t>
            </a:r>
          </a:p>
        </p:txBody>
      </p:sp>
      <p:sp>
        <p:nvSpPr>
          <p:cNvPr id="7" name="Textfeld 1">
            <a:extLst>
              <a:ext uri="{FF2B5EF4-FFF2-40B4-BE49-F238E27FC236}">
                <a16:creationId xmlns:a16="http://schemas.microsoft.com/office/drawing/2014/main" id="{BD4F279B-2282-8100-83C3-3BC93B3104E2}"/>
              </a:ext>
            </a:extLst>
          </p:cNvPr>
          <p:cNvSpPr txBox="1"/>
          <p:nvPr/>
        </p:nvSpPr>
        <p:spPr>
          <a:xfrm>
            <a:off x="10158962" y="3583478"/>
            <a:ext cx="7111345" cy="4235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600">
                <a:latin typeface="Aptos"/>
                <a:ea typeface="+mn-lt"/>
                <a:cs typeface="+mn-lt"/>
              </a:rPr>
              <a:t>Based on the crowdsourced genomic analysis provided by M. Corpas et al. (2015), we used a trio family case study. For the analysis, the data provide was a Whole-Exome Sequencing (WES) along with specific disease-causing variant positions synthetically introduced for educational purposes.</a:t>
            </a:r>
          </a:p>
        </p:txBody>
      </p:sp>
    </p:spTree>
    <p:extLst>
      <p:ext uri="{BB962C8B-B14F-4D97-AF65-F5344CB8AC3E}">
        <p14:creationId xmlns:p14="http://schemas.microsoft.com/office/powerpoint/2010/main" val="2844167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CFC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FD440E-80E5-94D2-7D57-E57B18D9B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12CB8FFE-1115-A8E9-A9D2-B065A0DA1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525" y="-290286"/>
            <a:ext cx="12346950" cy="9615715"/>
          </a:xfrm>
          <a:prstGeom prst="rect">
            <a:avLst/>
          </a:prstGeom>
        </p:spPr>
      </p:pic>
      <p:sp>
        <p:nvSpPr>
          <p:cNvPr id="24" name="AutoShape 24">
            <a:extLst>
              <a:ext uri="{FF2B5EF4-FFF2-40B4-BE49-F238E27FC236}">
                <a16:creationId xmlns:a16="http://schemas.microsoft.com/office/drawing/2014/main" id="{0DD51313-19FC-5DC9-7C90-2D9A657B8392}"/>
              </a:ext>
            </a:extLst>
          </p:cNvPr>
          <p:cNvSpPr/>
          <p:nvPr/>
        </p:nvSpPr>
        <p:spPr>
          <a:xfrm>
            <a:off x="0" y="9210675"/>
            <a:ext cx="17259300" cy="0"/>
          </a:xfrm>
          <a:prstGeom prst="line">
            <a:avLst/>
          </a:prstGeom>
          <a:ln w="95250" cap="flat">
            <a:solidFill>
              <a:srgbClr val="DDECC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B2C61B8A-65E6-85EC-F81A-B828133861D4}"/>
              </a:ext>
            </a:extLst>
          </p:cNvPr>
          <p:cNvSpPr/>
          <p:nvPr/>
        </p:nvSpPr>
        <p:spPr>
          <a:xfrm>
            <a:off x="1028700" y="9504035"/>
            <a:ext cx="17259300" cy="0"/>
          </a:xfrm>
          <a:prstGeom prst="line">
            <a:avLst/>
          </a:prstGeom>
          <a:ln w="95250" cap="flat">
            <a:solidFill>
              <a:srgbClr val="DDECC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4E6B43-03C5-F07A-6271-0D27CFB80A68}"/>
              </a:ext>
            </a:extLst>
          </p:cNvPr>
          <p:cNvSpPr txBox="1"/>
          <p:nvPr/>
        </p:nvSpPr>
        <p:spPr>
          <a:xfrm>
            <a:off x="508000" y="734786"/>
            <a:ext cx="5116286" cy="17389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>
                <a:solidFill>
                  <a:srgbClr val="2D2D2D"/>
                </a:solidFill>
                <a:latin typeface="Montserrat Bold"/>
                <a:cs typeface="Segoe UI"/>
              </a:rPr>
              <a:t>Sample Pre-treatment</a:t>
            </a:r>
            <a:endParaRPr lang="en-US" sz="1050"/>
          </a:p>
          <a:p>
            <a:pPr algn="ctr"/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365238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5273E-805F-83BC-DF97-F28A74C13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034ED3-DCC5-3B97-526A-4C78AA67A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86" y="-209281"/>
            <a:ext cx="14257076" cy="1049628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E1277BF-B6DC-564D-8436-0D154BDE8AE9}"/>
              </a:ext>
            </a:extLst>
          </p:cNvPr>
          <p:cNvGrpSpPr/>
          <p:nvPr/>
        </p:nvGrpSpPr>
        <p:grpSpPr>
          <a:xfrm rot="5400000">
            <a:off x="-8757634" y="1000393"/>
            <a:ext cx="18288000" cy="293360"/>
            <a:chOff x="273676" y="8293055"/>
            <a:chExt cx="18288000" cy="293360"/>
          </a:xfrm>
        </p:grpSpPr>
        <p:sp>
          <p:nvSpPr>
            <p:cNvPr id="24" name="AutoShape 24">
              <a:extLst>
                <a:ext uri="{FF2B5EF4-FFF2-40B4-BE49-F238E27FC236}">
                  <a16:creationId xmlns:a16="http://schemas.microsoft.com/office/drawing/2014/main" id="{68443D48-E325-3B68-B2BF-B211BB648648}"/>
                </a:ext>
              </a:extLst>
            </p:cNvPr>
            <p:cNvSpPr/>
            <p:nvPr/>
          </p:nvSpPr>
          <p:spPr>
            <a:xfrm>
              <a:off x="273676" y="8293055"/>
              <a:ext cx="17259300" cy="0"/>
            </a:xfrm>
            <a:prstGeom prst="line">
              <a:avLst/>
            </a:prstGeom>
            <a:ln w="95250" cap="flat">
              <a:solidFill>
                <a:srgbClr val="DDECC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5" name="AutoShape 25">
              <a:extLst>
                <a:ext uri="{FF2B5EF4-FFF2-40B4-BE49-F238E27FC236}">
                  <a16:creationId xmlns:a16="http://schemas.microsoft.com/office/drawing/2014/main" id="{92B672E0-AC2F-A642-65D5-34109133E8A8}"/>
                </a:ext>
              </a:extLst>
            </p:cNvPr>
            <p:cNvSpPr/>
            <p:nvPr/>
          </p:nvSpPr>
          <p:spPr>
            <a:xfrm>
              <a:off x="1302376" y="8586415"/>
              <a:ext cx="17259300" cy="0"/>
            </a:xfrm>
            <a:prstGeom prst="line">
              <a:avLst/>
            </a:prstGeom>
            <a:ln w="95250" cap="flat">
              <a:solidFill>
                <a:srgbClr val="DDECC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1F5618C-7CD5-52D5-FAE2-4CBD7CF083EA}"/>
              </a:ext>
            </a:extLst>
          </p:cNvPr>
          <p:cNvSpPr txBox="1"/>
          <p:nvPr/>
        </p:nvSpPr>
        <p:spPr>
          <a:xfrm>
            <a:off x="10718157" y="830304"/>
            <a:ext cx="6790539" cy="17312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4800" b="1">
                <a:solidFill>
                  <a:srgbClr val="2D2D2D"/>
                </a:solidFill>
                <a:latin typeface="Montserrat Bold"/>
                <a:cs typeface="Segoe UI"/>
              </a:rPr>
              <a:t>Sample Filtering </a:t>
            </a:r>
            <a:r>
              <a:rPr lang="en-US" sz="4800" b="1" err="1">
                <a:solidFill>
                  <a:srgbClr val="2D2D2D"/>
                </a:solidFill>
                <a:latin typeface="Montserrat Bold"/>
                <a:cs typeface="Segoe UI"/>
              </a:rPr>
              <a:t>WorkFlow</a:t>
            </a:r>
            <a:endParaRPr lang="en-US" err="1"/>
          </a:p>
          <a:p>
            <a:pPr algn="r"/>
            <a:endParaRPr lang="en-US" sz="1050"/>
          </a:p>
        </p:txBody>
      </p:sp>
      <p:sp>
        <p:nvSpPr>
          <p:cNvPr id="8" name="Textfeld 23">
            <a:extLst>
              <a:ext uri="{FF2B5EF4-FFF2-40B4-BE49-F238E27FC236}">
                <a16:creationId xmlns:a16="http://schemas.microsoft.com/office/drawing/2014/main" id="{48EE30FE-8437-5C91-408F-7FBE1736B0BF}"/>
              </a:ext>
            </a:extLst>
          </p:cNvPr>
          <p:cNvSpPr txBox="1"/>
          <p:nvPr/>
        </p:nvSpPr>
        <p:spPr>
          <a:xfrm>
            <a:off x="12836743" y="3916696"/>
            <a:ext cx="5745345" cy="50167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Aptos"/>
              </a:rPr>
              <a:t>hg19</a:t>
            </a:r>
            <a:endParaRPr lang="en-US" sz="2000" b="1">
              <a:latin typeface="Aptos" panose="020B00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à"/>
            </a:pPr>
            <a:r>
              <a:rPr lang="en-US" sz="2000">
                <a:latin typeface="Aptos"/>
              </a:rPr>
              <a:t>Reference human genome</a:t>
            </a:r>
            <a:endParaRPr lang="en-US" sz="200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Aptos"/>
              </a:rPr>
              <a:t>1000g2012apr_eur, esp6500si_ea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à"/>
            </a:pPr>
            <a:r>
              <a:rPr lang="en-US" sz="2000">
                <a:latin typeface="Aptos"/>
              </a:rPr>
              <a:t>1000 genome project and most common </a:t>
            </a:r>
            <a:r>
              <a:rPr lang="en-US" sz="2000" err="1">
                <a:latin typeface="Aptos"/>
              </a:rPr>
              <a:t>european</a:t>
            </a:r>
            <a:r>
              <a:rPr lang="en-US" sz="2000">
                <a:latin typeface="Aptos"/>
              </a:rPr>
              <a:t> genes as reference</a:t>
            </a:r>
          </a:p>
          <a:p>
            <a:pPr marL="457200" indent="-457200">
              <a:lnSpc>
                <a:spcPct val="150000"/>
              </a:lnSpc>
              <a:buFont typeface="Arial,Sans-Serif"/>
              <a:buChar char="•"/>
            </a:pPr>
            <a:r>
              <a:rPr lang="en-US" sz="2000" b="1">
                <a:latin typeface="Aptos"/>
              </a:rPr>
              <a:t>snp138</a:t>
            </a:r>
            <a:endParaRPr lang="en-US"/>
          </a:p>
          <a:p>
            <a:pPr marL="342900" indent="-342900">
              <a:buFont typeface="Wingdings,sans-serif" panose="020B0604020202020204" pitchFamily="34" charset="0"/>
              <a:buChar char="à"/>
            </a:pPr>
            <a:r>
              <a:rPr lang="en-US" sz="2000">
                <a:latin typeface="Aptos"/>
              </a:rPr>
              <a:t>Known changes at </a:t>
            </a:r>
            <a:r>
              <a:rPr lang="en-US" sz="2000" err="1">
                <a:latin typeface="Aptos"/>
              </a:rPr>
              <a:t>snp's</a:t>
            </a:r>
            <a:r>
              <a:rPr lang="en-US" sz="2000">
                <a:latin typeface="Aptos"/>
              </a:rPr>
              <a:t> (</a:t>
            </a:r>
            <a:r>
              <a:rPr lang="en-US" sz="2000" err="1">
                <a:latin typeface="Aptos"/>
              </a:rPr>
              <a:t>dbsnp</a:t>
            </a:r>
            <a:r>
              <a:rPr lang="en-US" sz="2000">
                <a:latin typeface="Aptos"/>
              </a:rPr>
              <a:t>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Aptos"/>
              </a:rPr>
              <a:t>ljb2_pp2hvar (</a:t>
            </a:r>
            <a:r>
              <a:rPr lang="en-US" sz="2000" b="1" err="1">
                <a:latin typeface="Aptos"/>
              </a:rPr>
              <a:t>polyphen</a:t>
            </a:r>
            <a:r>
              <a:rPr lang="en-US" sz="2000" b="1">
                <a:latin typeface="Aptos"/>
              </a:rPr>
              <a:t>), ljb2_sift</a:t>
            </a:r>
          </a:p>
          <a:p>
            <a:pPr marL="342900" indent="-342900">
              <a:buFont typeface="Wingdings,sans-serif" panose="020B0604020202020204" pitchFamily="34" charset="0"/>
              <a:buChar char="à"/>
            </a:pPr>
            <a:r>
              <a:rPr lang="en-US" sz="2000">
                <a:latin typeface="Aptos"/>
              </a:rPr>
              <a:t>Important changes in amino </a:t>
            </a:r>
            <a:r>
              <a:rPr lang="en-US" sz="2000" err="1">
                <a:latin typeface="Aptos"/>
              </a:rPr>
              <a:t>acides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>
                <a:latin typeface="Aptos"/>
              </a:rPr>
              <a:t>clinvar_20140702</a:t>
            </a:r>
            <a:endParaRPr lang="en-US" sz="2000" b="1">
              <a:latin typeface="Aptos" panose="020B0004020202020204" pitchFamily="34" charset="0"/>
            </a:endParaRPr>
          </a:p>
          <a:p>
            <a:pPr marL="342900" indent="-342900">
              <a:buFont typeface="Wingdings" pitchFamily="2" charset="2"/>
              <a:buChar char="à"/>
            </a:pPr>
            <a:r>
              <a:rPr lang="en-US" sz="2000">
                <a:latin typeface="Aptos"/>
              </a:rPr>
              <a:t>Mutations related to diseases</a:t>
            </a:r>
            <a:endParaRPr lang="en-US" sz="200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FE59B-5B64-330D-B24B-AB494463AF7B}"/>
              </a:ext>
            </a:extLst>
          </p:cNvPr>
          <p:cNvSpPr txBox="1"/>
          <p:nvPr/>
        </p:nvSpPr>
        <p:spPr>
          <a:xfrm>
            <a:off x="708337" y="9264739"/>
            <a:ext cx="100133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Figure 4: </a:t>
            </a:r>
            <a:r>
              <a:rPr lang="en-US">
                <a:ea typeface="+mn-lt"/>
                <a:cs typeface="+mn-lt"/>
              </a:rPr>
              <a:t>Original figure generated directly from the analysis pipeline code.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7961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234327" y="842863"/>
            <a:ext cx="7041052" cy="1368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</a:pPr>
            <a:r>
              <a:rPr lang="en-US" sz="8000" b="1">
                <a:solidFill>
                  <a:srgbClr val="2D2D2D"/>
                </a:solidFill>
                <a:latin typeface="Montserrat Bold"/>
              </a:rPr>
              <a:t>Quality</a:t>
            </a:r>
            <a:endParaRPr lang="en-US"/>
          </a:p>
        </p:txBody>
      </p:sp>
      <p:pic>
        <p:nvPicPr>
          <p:cNvPr id="8" name="Picture 7" descr="Per base quality graph">
            <a:extLst>
              <a:ext uri="{FF2B5EF4-FFF2-40B4-BE49-F238E27FC236}">
                <a16:creationId xmlns:a16="http://schemas.microsoft.com/office/drawing/2014/main" id="{36893B0C-EF6C-E13B-BB7D-6B84AAE67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0434" y="764747"/>
            <a:ext cx="3990623" cy="3008062"/>
          </a:xfrm>
          <a:prstGeom prst="rect">
            <a:avLst/>
          </a:prstGeom>
        </p:spPr>
      </p:pic>
      <p:pic>
        <p:nvPicPr>
          <p:cNvPr id="10" name="Picture 9" descr="Per base quality graph">
            <a:extLst>
              <a:ext uri="{FF2B5EF4-FFF2-40B4-BE49-F238E27FC236}">
                <a16:creationId xmlns:a16="http://schemas.microsoft.com/office/drawing/2014/main" id="{3643D4C1-1C9B-EB61-13FA-485D517A5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495" y="6819375"/>
            <a:ext cx="3978123" cy="3022233"/>
          </a:xfrm>
          <a:prstGeom prst="rect">
            <a:avLst/>
          </a:prstGeom>
        </p:spPr>
      </p:pic>
      <p:pic>
        <p:nvPicPr>
          <p:cNvPr id="11" name="Picture 10" descr="Per base quality graph">
            <a:extLst>
              <a:ext uri="{FF2B5EF4-FFF2-40B4-BE49-F238E27FC236}">
                <a16:creationId xmlns:a16="http://schemas.microsoft.com/office/drawing/2014/main" id="{9AE39478-0E02-6D76-95CD-C43897A2B9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18261" y="6819376"/>
            <a:ext cx="3960622" cy="3014118"/>
          </a:xfrm>
          <a:prstGeom prst="rect">
            <a:avLst/>
          </a:prstGeom>
        </p:spPr>
      </p:pic>
      <p:pic>
        <p:nvPicPr>
          <p:cNvPr id="12" name="Picture 11" descr="Per base quality graph">
            <a:extLst>
              <a:ext uri="{FF2B5EF4-FFF2-40B4-BE49-F238E27FC236}">
                <a16:creationId xmlns:a16="http://schemas.microsoft.com/office/drawing/2014/main" id="{88386BCD-2816-D327-AE27-5978055E99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2791" y="3779040"/>
            <a:ext cx="3882606" cy="3024065"/>
          </a:xfrm>
          <a:prstGeom prst="rect">
            <a:avLst/>
          </a:prstGeom>
        </p:spPr>
      </p:pic>
      <p:pic>
        <p:nvPicPr>
          <p:cNvPr id="13" name="Picture 12" descr="Per base quality graph">
            <a:extLst>
              <a:ext uri="{FF2B5EF4-FFF2-40B4-BE49-F238E27FC236}">
                <a16:creationId xmlns:a16="http://schemas.microsoft.com/office/drawing/2014/main" id="{BC70DEDE-C323-2C3E-AAAC-E4241320C8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21669" y="3783532"/>
            <a:ext cx="4003216" cy="3021710"/>
          </a:xfrm>
          <a:prstGeom prst="rect">
            <a:avLst/>
          </a:prstGeom>
        </p:spPr>
      </p:pic>
      <p:pic>
        <p:nvPicPr>
          <p:cNvPr id="9" name="Picture 8" descr="Per base quality graph">
            <a:extLst>
              <a:ext uri="{FF2B5EF4-FFF2-40B4-BE49-F238E27FC236}">
                <a16:creationId xmlns:a16="http://schemas.microsoft.com/office/drawing/2014/main" id="{4434DEC2-D3D9-0132-F456-F8863247FD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21669" y="764747"/>
            <a:ext cx="4011591" cy="301162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6537D4C-F4F2-A0E6-83C2-B9F77493862C}"/>
              </a:ext>
            </a:extLst>
          </p:cNvPr>
          <p:cNvSpPr txBox="1"/>
          <p:nvPr/>
        </p:nvSpPr>
        <p:spPr>
          <a:xfrm>
            <a:off x="9576270" y="392020"/>
            <a:ext cx="362318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solidFill>
                  <a:srgbClr val="2D2D2D"/>
                </a:solidFill>
                <a:latin typeface="Montserrat Bold"/>
              </a:rPr>
              <a:t>Read 1 (5' -&gt; 3')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E983A2-646E-AC80-0E05-87443E82ECDC}"/>
              </a:ext>
            </a:extLst>
          </p:cNvPr>
          <p:cNvSpPr txBox="1"/>
          <p:nvPr/>
        </p:nvSpPr>
        <p:spPr>
          <a:xfrm>
            <a:off x="14114150" y="392020"/>
            <a:ext cx="362318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solidFill>
                  <a:srgbClr val="2D2D2D"/>
                </a:solidFill>
                <a:latin typeface="Montserrat Bold"/>
              </a:rPr>
              <a:t>Read 2 (5' &lt;- 3')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5E32C2-F04E-B505-5D18-86CD6BA23D32}"/>
              </a:ext>
            </a:extLst>
          </p:cNvPr>
          <p:cNvSpPr txBox="1"/>
          <p:nvPr/>
        </p:nvSpPr>
        <p:spPr>
          <a:xfrm>
            <a:off x="7409688" y="1992288"/>
            <a:ext cx="17295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rgbClr val="2D2D2D"/>
                </a:solidFill>
                <a:latin typeface="Montserrat Bold"/>
              </a:rPr>
              <a:t>Dad</a:t>
            </a:r>
            <a:endParaRPr lang="en-US" sz="16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529B59-C971-E3A2-9F7E-0097795A0BCD}"/>
              </a:ext>
            </a:extLst>
          </p:cNvPr>
          <p:cNvSpPr txBox="1"/>
          <p:nvPr/>
        </p:nvSpPr>
        <p:spPr>
          <a:xfrm>
            <a:off x="7409687" y="5011855"/>
            <a:ext cx="17295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rgbClr val="2D2D2D"/>
                </a:solidFill>
                <a:latin typeface="Montserrat Bold"/>
              </a:rPr>
              <a:t>Mom</a:t>
            </a:r>
            <a:endParaRPr lang="en-US"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EDEBB2-CF95-07BC-15CD-E943E1DA75EB}"/>
              </a:ext>
            </a:extLst>
          </p:cNvPr>
          <p:cNvSpPr txBox="1"/>
          <p:nvPr/>
        </p:nvSpPr>
        <p:spPr>
          <a:xfrm>
            <a:off x="7506279" y="8048483"/>
            <a:ext cx="172956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rgbClr val="2D2D2D"/>
                </a:solidFill>
                <a:latin typeface="Montserrat Bold"/>
              </a:rPr>
              <a:t>Daughter</a:t>
            </a:r>
            <a:endParaRPr lang="en-US" sz="160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5930011-668A-6766-E544-FA1D1C39AB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486" y="2873756"/>
            <a:ext cx="6557465" cy="455451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ACB40D1-3C92-BA13-DF0E-7DF7FEB78378}"/>
              </a:ext>
            </a:extLst>
          </p:cNvPr>
          <p:cNvGrpSpPr/>
          <p:nvPr/>
        </p:nvGrpSpPr>
        <p:grpSpPr>
          <a:xfrm rot="5400000">
            <a:off x="-8757634" y="1000393"/>
            <a:ext cx="18288000" cy="293360"/>
            <a:chOff x="273676" y="8293055"/>
            <a:chExt cx="18288000" cy="293360"/>
          </a:xfrm>
        </p:grpSpPr>
        <p:sp>
          <p:nvSpPr>
            <p:cNvPr id="5" name="AutoShape 24">
              <a:extLst>
                <a:ext uri="{FF2B5EF4-FFF2-40B4-BE49-F238E27FC236}">
                  <a16:creationId xmlns:a16="http://schemas.microsoft.com/office/drawing/2014/main" id="{EEF91263-F5B4-292C-38E0-4F81C4C62747}"/>
                </a:ext>
              </a:extLst>
            </p:cNvPr>
            <p:cNvSpPr/>
            <p:nvPr/>
          </p:nvSpPr>
          <p:spPr>
            <a:xfrm>
              <a:off x="273676" y="8293055"/>
              <a:ext cx="17259300" cy="0"/>
            </a:xfrm>
            <a:prstGeom prst="line">
              <a:avLst/>
            </a:prstGeom>
            <a:ln w="95250" cap="flat">
              <a:solidFill>
                <a:srgbClr val="DDECC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AutoShape 25">
              <a:extLst>
                <a:ext uri="{FF2B5EF4-FFF2-40B4-BE49-F238E27FC236}">
                  <a16:creationId xmlns:a16="http://schemas.microsoft.com/office/drawing/2014/main" id="{EA45F62F-05D9-0B45-635E-2B97B74D6375}"/>
                </a:ext>
              </a:extLst>
            </p:cNvPr>
            <p:cNvSpPr/>
            <p:nvPr/>
          </p:nvSpPr>
          <p:spPr>
            <a:xfrm>
              <a:off x="1302376" y="8586415"/>
              <a:ext cx="17259300" cy="0"/>
            </a:xfrm>
            <a:prstGeom prst="line">
              <a:avLst/>
            </a:prstGeom>
            <a:ln w="95250" cap="flat">
              <a:solidFill>
                <a:srgbClr val="DDECC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D6CA6D9-3C4A-860F-1075-165C5E01E2E6}"/>
              </a:ext>
            </a:extLst>
          </p:cNvPr>
          <p:cNvSpPr txBox="1"/>
          <p:nvPr/>
        </p:nvSpPr>
        <p:spPr>
          <a:xfrm>
            <a:off x="1030310" y="9184246"/>
            <a:ext cx="9144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Figure 5: Fast QC analysis provided.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Figure 6: Set quality metrics performed in R.</a:t>
            </a:r>
          </a:p>
          <a:p>
            <a:pPr algn="ctr"/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feil nach rechts 82">
            <a:extLst>
              <a:ext uri="{FF2B5EF4-FFF2-40B4-BE49-F238E27FC236}">
                <a16:creationId xmlns:a16="http://schemas.microsoft.com/office/drawing/2014/main" id="{348B4D98-6303-C8C1-B891-B4D0508BCE18}"/>
              </a:ext>
            </a:extLst>
          </p:cNvPr>
          <p:cNvSpPr/>
          <p:nvPr/>
        </p:nvSpPr>
        <p:spPr>
          <a:xfrm>
            <a:off x="1438180" y="4290223"/>
            <a:ext cx="16382222" cy="744703"/>
          </a:xfrm>
          <a:prstGeom prst="rightArrow">
            <a:avLst/>
          </a:prstGeom>
          <a:solidFill>
            <a:srgbClr val="DEECC7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0" y="9210675"/>
            <a:ext cx="17259300" cy="0"/>
          </a:xfrm>
          <a:prstGeom prst="line">
            <a:avLst/>
          </a:prstGeom>
          <a:ln w="95250" cap="flat">
            <a:solidFill>
              <a:srgbClr val="DDECC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5" name="AutoShape 5"/>
          <p:cNvSpPr/>
          <p:nvPr/>
        </p:nvSpPr>
        <p:spPr>
          <a:xfrm>
            <a:off x="1028700" y="9504035"/>
            <a:ext cx="17259300" cy="0"/>
          </a:xfrm>
          <a:prstGeom prst="line">
            <a:avLst/>
          </a:prstGeom>
          <a:ln w="95250" cap="flat">
            <a:solidFill>
              <a:srgbClr val="DDECC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Box 6"/>
          <p:cNvSpPr txBox="1"/>
          <p:nvPr/>
        </p:nvSpPr>
        <p:spPr>
          <a:xfrm>
            <a:off x="1028699" y="1171575"/>
            <a:ext cx="9532093" cy="1055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000" b="1" dirty="0">
                <a:solidFill>
                  <a:srgbClr val="2D2D2D"/>
                </a:solidFill>
                <a:latin typeface="Montserrat Bold"/>
                <a:sym typeface="Montserrat Bold"/>
              </a:rPr>
              <a:t>Variant filtering</a:t>
            </a:r>
            <a:endParaRPr lang="en-US" dirty="0"/>
          </a:p>
        </p:txBody>
      </p:sp>
      <p:sp>
        <p:nvSpPr>
          <p:cNvPr id="57" name="Rounded Rectangle 5">
            <a:extLst>
              <a:ext uri="{FF2B5EF4-FFF2-40B4-BE49-F238E27FC236}">
                <a16:creationId xmlns:a16="http://schemas.microsoft.com/office/drawing/2014/main" id="{5F60F0B5-0A84-DD93-B80B-99ABF3697635}"/>
              </a:ext>
            </a:extLst>
          </p:cNvPr>
          <p:cNvSpPr>
            <a:spLocks noChangeAspect="1"/>
          </p:cNvSpPr>
          <p:nvPr/>
        </p:nvSpPr>
        <p:spPr>
          <a:xfrm>
            <a:off x="2213292" y="2909420"/>
            <a:ext cx="2668519" cy="316498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27D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61F4E6B-0991-13B4-C3DA-9A5338677A77}"/>
              </a:ext>
            </a:extLst>
          </p:cNvPr>
          <p:cNvSpPr>
            <a:spLocks noChangeAspect="1"/>
          </p:cNvSpPr>
          <p:nvPr/>
        </p:nvSpPr>
        <p:spPr>
          <a:xfrm>
            <a:off x="2213292" y="2864295"/>
            <a:ext cx="719879" cy="719879"/>
          </a:xfrm>
          <a:prstGeom prst="ellipse">
            <a:avLst/>
          </a:prstGeom>
          <a:solidFill>
            <a:srgbClr val="427D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7">
            <a:extLst>
              <a:ext uri="{FF2B5EF4-FFF2-40B4-BE49-F238E27FC236}">
                <a16:creationId xmlns:a16="http://schemas.microsoft.com/office/drawing/2014/main" id="{CCC351BD-3002-8678-13EB-57DDB008C180}"/>
              </a:ext>
            </a:extLst>
          </p:cNvPr>
          <p:cNvSpPr txBox="1">
            <a:spLocks noChangeAspect="1"/>
          </p:cNvSpPr>
          <p:nvPr/>
        </p:nvSpPr>
        <p:spPr>
          <a:xfrm>
            <a:off x="2213292" y="3062882"/>
            <a:ext cx="719879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de-DE" sz="2000" b="1" dirty="0">
                <a:solidFill>
                  <a:srgbClr val="FFFFFF"/>
                </a:solidFill>
                <a:latin typeface="Aptos"/>
              </a:rPr>
              <a:t>1</a:t>
            </a:r>
            <a:endParaRPr sz="20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0" name="TextBox 8">
            <a:extLst>
              <a:ext uri="{FF2B5EF4-FFF2-40B4-BE49-F238E27FC236}">
                <a16:creationId xmlns:a16="http://schemas.microsoft.com/office/drawing/2014/main" id="{3743CAFA-1669-6C58-1133-7C11DFBB14E9}"/>
              </a:ext>
            </a:extLst>
          </p:cNvPr>
          <p:cNvSpPr txBox="1">
            <a:spLocks noChangeAspect="1"/>
          </p:cNvSpPr>
          <p:nvPr/>
        </p:nvSpPr>
        <p:spPr>
          <a:xfrm>
            <a:off x="2523585" y="3071221"/>
            <a:ext cx="2358226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US" sz="2400" b="1" dirty="0">
                <a:solidFill>
                  <a:srgbClr val="162B42"/>
                </a:solidFill>
                <a:latin typeface="Aptos"/>
              </a:rPr>
              <a:t>Variants</a:t>
            </a:r>
            <a:endParaRPr lang="en-US" sz="2400" b="1" i="0" dirty="0">
              <a:solidFill>
                <a:srgbClr val="162B42"/>
              </a:solidFill>
              <a:latin typeface="Aptos"/>
            </a:endParaRPr>
          </a:p>
        </p:txBody>
      </p:sp>
      <p:sp>
        <p:nvSpPr>
          <p:cNvPr id="61" name="TextBox 9">
            <a:extLst>
              <a:ext uri="{FF2B5EF4-FFF2-40B4-BE49-F238E27FC236}">
                <a16:creationId xmlns:a16="http://schemas.microsoft.com/office/drawing/2014/main" id="{F18F3E6F-ED0B-096A-C1EE-24830919CFE8}"/>
              </a:ext>
            </a:extLst>
          </p:cNvPr>
          <p:cNvSpPr txBox="1">
            <a:spLocks noChangeAspect="1"/>
          </p:cNvSpPr>
          <p:nvPr/>
        </p:nvSpPr>
        <p:spPr>
          <a:xfrm>
            <a:off x="2640457" y="4785203"/>
            <a:ext cx="1800196" cy="40934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de-DE" sz="1150" dirty="0">
                <a:solidFill>
                  <a:srgbClr val="5F6974"/>
                </a:solidFill>
                <a:latin typeface="Aptos"/>
              </a:rPr>
              <a:t>corpasome.trio.chr22.snps.filtered.annovar.tsv</a:t>
            </a:r>
            <a:endParaRPr sz="1150" b="0" i="0" dirty="0">
              <a:solidFill>
                <a:srgbClr val="5F6974"/>
              </a:solidFill>
              <a:latin typeface="Aptos"/>
            </a:endParaRPr>
          </a:p>
        </p:txBody>
      </p:sp>
      <p:sp>
        <p:nvSpPr>
          <p:cNvPr id="62" name="Rounded Rectangle 10">
            <a:extLst>
              <a:ext uri="{FF2B5EF4-FFF2-40B4-BE49-F238E27FC236}">
                <a16:creationId xmlns:a16="http://schemas.microsoft.com/office/drawing/2014/main" id="{C8B56DC4-6FFC-128F-AA15-C7D348AEFA7D}"/>
              </a:ext>
            </a:extLst>
          </p:cNvPr>
          <p:cNvSpPr>
            <a:spLocks noChangeAspect="1"/>
          </p:cNvSpPr>
          <p:nvPr/>
        </p:nvSpPr>
        <p:spPr>
          <a:xfrm>
            <a:off x="5254162" y="2909420"/>
            <a:ext cx="2668519" cy="316498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A9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E053F9A-1F26-C405-4B9E-54D2C74F8E64}"/>
              </a:ext>
            </a:extLst>
          </p:cNvPr>
          <p:cNvSpPr>
            <a:spLocks noChangeAspect="1"/>
          </p:cNvSpPr>
          <p:nvPr/>
        </p:nvSpPr>
        <p:spPr>
          <a:xfrm>
            <a:off x="5236372" y="2864295"/>
            <a:ext cx="719879" cy="719879"/>
          </a:xfrm>
          <a:prstGeom prst="ellipse">
            <a:avLst/>
          </a:prstGeom>
          <a:solidFill>
            <a:srgbClr val="2A9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12">
            <a:extLst>
              <a:ext uri="{FF2B5EF4-FFF2-40B4-BE49-F238E27FC236}">
                <a16:creationId xmlns:a16="http://schemas.microsoft.com/office/drawing/2014/main" id="{CFF81EC7-F811-29DA-2F51-5EF0A6962DE0}"/>
              </a:ext>
            </a:extLst>
          </p:cNvPr>
          <p:cNvSpPr txBox="1">
            <a:spLocks noChangeAspect="1"/>
          </p:cNvSpPr>
          <p:nvPr/>
        </p:nvSpPr>
        <p:spPr>
          <a:xfrm>
            <a:off x="5236372" y="3062882"/>
            <a:ext cx="719879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de-DE" sz="2000" b="1" dirty="0">
                <a:solidFill>
                  <a:srgbClr val="FFFFFF"/>
                </a:solidFill>
                <a:latin typeface="Aptos"/>
              </a:rPr>
              <a:t>2</a:t>
            </a:r>
            <a:endParaRPr sz="20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5" name="TextBox 13">
            <a:extLst>
              <a:ext uri="{FF2B5EF4-FFF2-40B4-BE49-F238E27FC236}">
                <a16:creationId xmlns:a16="http://schemas.microsoft.com/office/drawing/2014/main" id="{6B51C656-7CC0-9E2F-D517-4AB73205C2DC}"/>
              </a:ext>
            </a:extLst>
          </p:cNvPr>
          <p:cNvSpPr txBox="1">
            <a:spLocks noChangeAspect="1"/>
          </p:cNvSpPr>
          <p:nvPr/>
        </p:nvSpPr>
        <p:spPr>
          <a:xfrm>
            <a:off x="5564455" y="3071221"/>
            <a:ext cx="2358226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US" sz="2400" b="1" i="0" dirty="0">
                <a:solidFill>
                  <a:srgbClr val="162B42"/>
                </a:solidFill>
                <a:latin typeface="Aptos"/>
              </a:rPr>
              <a:t>Recessive</a:t>
            </a:r>
          </a:p>
        </p:txBody>
      </p:sp>
      <p:sp>
        <p:nvSpPr>
          <p:cNvPr id="67" name="Rounded Rectangle 15">
            <a:extLst>
              <a:ext uri="{FF2B5EF4-FFF2-40B4-BE49-F238E27FC236}">
                <a16:creationId xmlns:a16="http://schemas.microsoft.com/office/drawing/2014/main" id="{4092D764-5BEC-5A67-3800-1D94B3B829F9}"/>
              </a:ext>
            </a:extLst>
          </p:cNvPr>
          <p:cNvSpPr>
            <a:spLocks noChangeAspect="1"/>
          </p:cNvSpPr>
          <p:nvPr/>
        </p:nvSpPr>
        <p:spPr>
          <a:xfrm>
            <a:off x="8295033" y="2909420"/>
            <a:ext cx="2668519" cy="316498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25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C975412-9367-AB41-8A03-2C6D1AC056E3}"/>
              </a:ext>
            </a:extLst>
          </p:cNvPr>
          <p:cNvSpPr>
            <a:spLocks noChangeAspect="1"/>
          </p:cNvSpPr>
          <p:nvPr/>
        </p:nvSpPr>
        <p:spPr>
          <a:xfrm>
            <a:off x="8259452" y="2851412"/>
            <a:ext cx="719879" cy="719879"/>
          </a:xfrm>
          <a:prstGeom prst="ellipse">
            <a:avLst/>
          </a:prstGeom>
          <a:solidFill>
            <a:srgbClr val="725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17">
            <a:extLst>
              <a:ext uri="{FF2B5EF4-FFF2-40B4-BE49-F238E27FC236}">
                <a16:creationId xmlns:a16="http://schemas.microsoft.com/office/drawing/2014/main" id="{D33F61A1-C155-37E7-9085-E1F296594E35}"/>
              </a:ext>
            </a:extLst>
          </p:cNvPr>
          <p:cNvSpPr txBox="1">
            <a:spLocks noChangeAspect="1"/>
          </p:cNvSpPr>
          <p:nvPr/>
        </p:nvSpPr>
        <p:spPr>
          <a:xfrm>
            <a:off x="8259452" y="3049999"/>
            <a:ext cx="719879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de-DE" sz="2000" b="1" dirty="0">
                <a:solidFill>
                  <a:srgbClr val="FFFFFF"/>
                </a:solidFill>
                <a:latin typeface="Aptos"/>
              </a:rPr>
              <a:t>3</a:t>
            </a:r>
            <a:endParaRPr sz="20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0" name="TextBox 18">
            <a:extLst>
              <a:ext uri="{FF2B5EF4-FFF2-40B4-BE49-F238E27FC236}">
                <a16:creationId xmlns:a16="http://schemas.microsoft.com/office/drawing/2014/main" id="{D4EB49FD-AADB-B1D8-BF1C-EF4FFCB7C8FD}"/>
              </a:ext>
            </a:extLst>
          </p:cNvPr>
          <p:cNvSpPr txBox="1">
            <a:spLocks noChangeAspect="1"/>
          </p:cNvSpPr>
          <p:nvPr/>
        </p:nvSpPr>
        <p:spPr>
          <a:xfrm>
            <a:off x="8732325" y="3071221"/>
            <a:ext cx="2358226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US" sz="2400" b="1" i="0" dirty="0">
                <a:solidFill>
                  <a:srgbClr val="162B42"/>
                </a:solidFill>
                <a:latin typeface="Aptos"/>
              </a:rPr>
              <a:t>Noncommon</a:t>
            </a:r>
          </a:p>
        </p:txBody>
      </p:sp>
      <p:sp>
        <p:nvSpPr>
          <p:cNvPr id="71" name="TextBox 19">
            <a:extLst>
              <a:ext uri="{FF2B5EF4-FFF2-40B4-BE49-F238E27FC236}">
                <a16:creationId xmlns:a16="http://schemas.microsoft.com/office/drawing/2014/main" id="{764ECD14-99EF-FDD3-CE6C-0BABB8D9C87C}"/>
              </a:ext>
            </a:extLst>
          </p:cNvPr>
          <p:cNvSpPr txBox="1">
            <a:spLocks noChangeAspect="1"/>
          </p:cNvSpPr>
          <p:nvPr/>
        </p:nvSpPr>
        <p:spPr>
          <a:xfrm>
            <a:off x="8481207" y="4676944"/>
            <a:ext cx="2296167" cy="7940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de-DE" sz="1600" dirty="0">
                <a:solidFill>
                  <a:srgbClr val="5F6974"/>
                </a:solidFill>
                <a:latin typeface="Aptos"/>
              </a:rPr>
              <a:t>remove </a:t>
            </a:r>
            <a:r>
              <a:rPr lang="de-DE" sz="1600" dirty="0" err="1">
                <a:solidFill>
                  <a:srgbClr val="5F6974"/>
                </a:solidFill>
                <a:latin typeface="Aptos"/>
              </a:rPr>
              <a:t>variants</a:t>
            </a:r>
            <a:r>
              <a:rPr lang="de-DE" sz="1600" dirty="0">
                <a:solidFill>
                  <a:srgbClr val="5F6974"/>
                </a:solidFill>
                <a:latin typeface="Aptos"/>
              </a:rPr>
              <a:t> </a:t>
            </a:r>
            <a:r>
              <a:rPr lang="de-DE" sz="1600" dirty="0" err="1">
                <a:solidFill>
                  <a:srgbClr val="5F6974"/>
                </a:solidFill>
                <a:latin typeface="Aptos"/>
              </a:rPr>
              <a:t>that</a:t>
            </a:r>
            <a:r>
              <a:rPr lang="de-DE" sz="1600" dirty="0">
                <a:solidFill>
                  <a:srgbClr val="5F6974"/>
                </a:solidFill>
                <a:latin typeface="Aptos"/>
              </a:rPr>
              <a:t> </a:t>
            </a:r>
            <a:r>
              <a:rPr lang="de-DE" sz="1600" dirty="0" err="1">
                <a:solidFill>
                  <a:srgbClr val="5F6974"/>
                </a:solidFill>
                <a:latin typeface="Aptos"/>
              </a:rPr>
              <a:t>are</a:t>
            </a:r>
            <a:r>
              <a:rPr lang="de-DE" sz="1600" dirty="0">
                <a:solidFill>
                  <a:srgbClr val="5F6974"/>
                </a:solidFill>
                <a:latin typeface="Aptos"/>
              </a:rPr>
              <a:t> frequent in </a:t>
            </a:r>
            <a:r>
              <a:rPr lang="de-DE" sz="1600" dirty="0" err="1">
                <a:solidFill>
                  <a:srgbClr val="5F6974"/>
                </a:solidFill>
                <a:latin typeface="Aptos"/>
              </a:rPr>
              <a:t>population</a:t>
            </a:r>
            <a:r>
              <a:rPr lang="de-DE" sz="1600" dirty="0">
                <a:solidFill>
                  <a:srgbClr val="5F6974"/>
                </a:solidFill>
                <a:latin typeface="Aptos"/>
              </a:rPr>
              <a:t> </a:t>
            </a:r>
            <a:r>
              <a:rPr lang="de-DE" sz="1600" dirty="0" err="1">
                <a:solidFill>
                  <a:srgbClr val="5F6974"/>
                </a:solidFill>
                <a:latin typeface="Aptos"/>
              </a:rPr>
              <a:t>databases</a:t>
            </a:r>
            <a:endParaRPr sz="1600" b="0" i="0" dirty="0">
              <a:solidFill>
                <a:srgbClr val="5F6974"/>
              </a:solidFill>
              <a:latin typeface="Aptos"/>
            </a:endParaRPr>
          </a:p>
        </p:txBody>
      </p:sp>
      <p:sp>
        <p:nvSpPr>
          <p:cNvPr id="72" name="Rounded Rectangle 20">
            <a:extLst>
              <a:ext uri="{FF2B5EF4-FFF2-40B4-BE49-F238E27FC236}">
                <a16:creationId xmlns:a16="http://schemas.microsoft.com/office/drawing/2014/main" id="{2818B7B8-FDFF-D8F3-9FD8-10D393D57143}"/>
              </a:ext>
            </a:extLst>
          </p:cNvPr>
          <p:cNvSpPr>
            <a:spLocks noChangeAspect="1"/>
          </p:cNvSpPr>
          <p:nvPr/>
        </p:nvSpPr>
        <p:spPr>
          <a:xfrm>
            <a:off x="11335903" y="2909420"/>
            <a:ext cx="2668519" cy="316498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A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EF8A90F6-D022-CE19-3B72-468C88019F90}"/>
              </a:ext>
            </a:extLst>
          </p:cNvPr>
          <p:cNvSpPr>
            <a:spLocks noChangeAspect="1"/>
          </p:cNvSpPr>
          <p:nvPr/>
        </p:nvSpPr>
        <p:spPr>
          <a:xfrm>
            <a:off x="11282532" y="2864295"/>
            <a:ext cx="719879" cy="719879"/>
          </a:xfrm>
          <a:prstGeom prst="ellipse">
            <a:avLst/>
          </a:prstGeom>
          <a:solidFill>
            <a:srgbClr val="D9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22">
            <a:extLst>
              <a:ext uri="{FF2B5EF4-FFF2-40B4-BE49-F238E27FC236}">
                <a16:creationId xmlns:a16="http://schemas.microsoft.com/office/drawing/2014/main" id="{D6D9997F-C0DC-3648-174B-052647C96F84}"/>
              </a:ext>
            </a:extLst>
          </p:cNvPr>
          <p:cNvSpPr txBox="1">
            <a:spLocks noChangeAspect="1"/>
          </p:cNvSpPr>
          <p:nvPr/>
        </p:nvSpPr>
        <p:spPr>
          <a:xfrm>
            <a:off x="11282532" y="3062882"/>
            <a:ext cx="719879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de-DE" sz="2000" b="1" dirty="0">
                <a:solidFill>
                  <a:srgbClr val="FFFFFF"/>
                </a:solidFill>
                <a:latin typeface="Aptos"/>
              </a:rPr>
              <a:t>4</a:t>
            </a:r>
            <a:endParaRPr sz="20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5" name="TextBox 23">
            <a:extLst>
              <a:ext uri="{FF2B5EF4-FFF2-40B4-BE49-F238E27FC236}">
                <a16:creationId xmlns:a16="http://schemas.microsoft.com/office/drawing/2014/main" id="{9BB91FB5-B538-14C0-3FC3-87C9DF70CA51}"/>
              </a:ext>
            </a:extLst>
          </p:cNvPr>
          <p:cNvSpPr txBox="1">
            <a:spLocks noChangeAspect="1"/>
          </p:cNvSpPr>
          <p:nvPr/>
        </p:nvSpPr>
        <p:spPr>
          <a:xfrm>
            <a:off x="11646195" y="3071221"/>
            <a:ext cx="2358226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US" sz="2400" b="1" dirty="0" err="1">
                <a:solidFill>
                  <a:srgbClr val="162B42"/>
                </a:solidFill>
                <a:latin typeface="Aptos"/>
              </a:rPr>
              <a:t>Exonic</a:t>
            </a:r>
            <a:endParaRPr lang="en-US" sz="2400" b="1" i="0" dirty="0">
              <a:solidFill>
                <a:srgbClr val="162B42"/>
              </a:solidFill>
              <a:latin typeface="Aptos"/>
            </a:endParaRPr>
          </a:p>
        </p:txBody>
      </p:sp>
      <p:sp>
        <p:nvSpPr>
          <p:cNvPr id="76" name="TextBox 24">
            <a:extLst>
              <a:ext uri="{FF2B5EF4-FFF2-40B4-BE49-F238E27FC236}">
                <a16:creationId xmlns:a16="http://schemas.microsoft.com/office/drawing/2014/main" id="{3D6670BC-585A-5011-7A1A-44ADC5E3B600}"/>
              </a:ext>
            </a:extLst>
          </p:cNvPr>
          <p:cNvSpPr txBox="1">
            <a:spLocks noChangeAspect="1"/>
          </p:cNvSpPr>
          <p:nvPr/>
        </p:nvSpPr>
        <p:spPr>
          <a:xfrm>
            <a:off x="11522078" y="4847006"/>
            <a:ext cx="2296167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de-DE" sz="1600" dirty="0">
                <a:solidFill>
                  <a:srgbClr val="5F6974"/>
                </a:solidFill>
                <a:latin typeface="Aptos"/>
              </a:rPr>
              <a:t>Keep </a:t>
            </a:r>
            <a:r>
              <a:rPr lang="de-DE" sz="1600" dirty="0" err="1">
                <a:solidFill>
                  <a:srgbClr val="5F6974"/>
                </a:solidFill>
                <a:latin typeface="Aptos"/>
              </a:rPr>
              <a:t>variants</a:t>
            </a:r>
            <a:r>
              <a:rPr lang="de-DE" sz="1600" dirty="0">
                <a:solidFill>
                  <a:srgbClr val="5F6974"/>
                </a:solidFill>
                <a:latin typeface="Aptos"/>
              </a:rPr>
              <a:t> in </a:t>
            </a:r>
            <a:r>
              <a:rPr lang="de-DE" sz="1600" dirty="0" err="1">
                <a:solidFill>
                  <a:srgbClr val="5F6974"/>
                </a:solidFill>
                <a:latin typeface="Aptos"/>
              </a:rPr>
              <a:t>exonic</a:t>
            </a:r>
            <a:r>
              <a:rPr lang="de-DE" sz="1600" dirty="0">
                <a:solidFill>
                  <a:srgbClr val="5F6974"/>
                </a:solidFill>
                <a:latin typeface="Aptos"/>
              </a:rPr>
              <a:t> </a:t>
            </a:r>
            <a:r>
              <a:rPr lang="de-DE" sz="1600" dirty="0" err="1">
                <a:solidFill>
                  <a:srgbClr val="5F6974"/>
                </a:solidFill>
                <a:latin typeface="Aptos"/>
              </a:rPr>
              <a:t>regions</a:t>
            </a:r>
            <a:r>
              <a:rPr lang="de-DE" sz="1600" dirty="0">
                <a:solidFill>
                  <a:srgbClr val="5F6974"/>
                </a:solidFill>
                <a:latin typeface="Aptos"/>
              </a:rPr>
              <a:t> </a:t>
            </a:r>
            <a:r>
              <a:rPr lang="de-DE" sz="1600" dirty="0" err="1">
                <a:solidFill>
                  <a:srgbClr val="5F6974"/>
                </a:solidFill>
                <a:latin typeface="Aptos"/>
              </a:rPr>
              <a:t>only</a:t>
            </a:r>
            <a:endParaRPr lang="de-DE" sz="1600" b="0" i="0" dirty="0">
              <a:solidFill>
                <a:srgbClr val="5F6974"/>
              </a:solidFill>
              <a:latin typeface="Aptos"/>
            </a:endParaRPr>
          </a:p>
        </p:txBody>
      </p:sp>
      <p:sp>
        <p:nvSpPr>
          <p:cNvPr id="77" name="Rounded Rectangle 25">
            <a:extLst>
              <a:ext uri="{FF2B5EF4-FFF2-40B4-BE49-F238E27FC236}">
                <a16:creationId xmlns:a16="http://schemas.microsoft.com/office/drawing/2014/main" id="{16681129-1849-8C81-C635-CFA04E6DF2C8}"/>
              </a:ext>
            </a:extLst>
          </p:cNvPr>
          <p:cNvSpPr>
            <a:spLocks noChangeAspect="1"/>
          </p:cNvSpPr>
          <p:nvPr/>
        </p:nvSpPr>
        <p:spPr>
          <a:xfrm>
            <a:off x="14376773" y="2909420"/>
            <a:ext cx="2668519" cy="316498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63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FAF807AB-0EBD-7470-F56B-B6460250168E}"/>
              </a:ext>
            </a:extLst>
          </p:cNvPr>
          <p:cNvSpPr>
            <a:spLocks noChangeAspect="1"/>
          </p:cNvSpPr>
          <p:nvPr/>
        </p:nvSpPr>
        <p:spPr>
          <a:xfrm>
            <a:off x="14376773" y="2851412"/>
            <a:ext cx="719879" cy="719879"/>
          </a:xfrm>
          <a:prstGeom prst="ellipse">
            <a:avLst/>
          </a:prstGeom>
          <a:solidFill>
            <a:srgbClr val="C6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27">
            <a:extLst>
              <a:ext uri="{FF2B5EF4-FFF2-40B4-BE49-F238E27FC236}">
                <a16:creationId xmlns:a16="http://schemas.microsoft.com/office/drawing/2014/main" id="{0E8AF664-B427-4B93-9BB7-762C467B7A9A}"/>
              </a:ext>
            </a:extLst>
          </p:cNvPr>
          <p:cNvSpPr txBox="1">
            <a:spLocks noChangeAspect="1"/>
          </p:cNvSpPr>
          <p:nvPr/>
        </p:nvSpPr>
        <p:spPr>
          <a:xfrm>
            <a:off x="14376773" y="3049999"/>
            <a:ext cx="719879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de-DE" sz="2000" b="1" dirty="0">
                <a:solidFill>
                  <a:srgbClr val="FFFFFF"/>
                </a:solidFill>
                <a:latin typeface="Aptos"/>
              </a:rPr>
              <a:t>5</a:t>
            </a:r>
            <a:endParaRPr sz="20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0" name="TextBox 28">
            <a:extLst>
              <a:ext uri="{FF2B5EF4-FFF2-40B4-BE49-F238E27FC236}">
                <a16:creationId xmlns:a16="http://schemas.microsoft.com/office/drawing/2014/main" id="{E6CB1E2A-3057-21A7-15DF-6182DAA4413F}"/>
              </a:ext>
            </a:extLst>
          </p:cNvPr>
          <p:cNvSpPr txBox="1">
            <a:spLocks noChangeAspect="1"/>
          </p:cNvSpPr>
          <p:nvPr/>
        </p:nvSpPr>
        <p:spPr>
          <a:xfrm>
            <a:off x="14763266" y="3071221"/>
            <a:ext cx="2358226" cy="4247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US" sz="2400" b="1" i="0" dirty="0">
                <a:solidFill>
                  <a:srgbClr val="162B42"/>
                </a:solidFill>
                <a:latin typeface="Aptos"/>
              </a:rPr>
              <a:t>Deleterious</a:t>
            </a:r>
          </a:p>
        </p:txBody>
      </p:sp>
      <p:sp>
        <p:nvSpPr>
          <p:cNvPr id="81" name="TextBox 29">
            <a:extLst>
              <a:ext uri="{FF2B5EF4-FFF2-40B4-BE49-F238E27FC236}">
                <a16:creationId xmlns:a16="http://schemas.microsoft.com/office/drawing/2014/main" id="{060DC3C6-14A6-08CC-8129-7F6D5544898D}"/>
              </a:ext>
            </a:extLst>
          </p:cNvPr>
          <p:cNvSpPr txBox="1">
            <a:spLocks noChangeAspect="1"/>
          </p:cNvSpPr>
          <p:nvPr/>
        </p:nvSpPr>
        <p:spPr>
          <a:xfrm>
            <a:off x="14544537" y="4923166"/>
            <a:ext cx="2296167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de-DE" sz="1600" dirty="0">
                <a:solidFill>
                  <a:srgbClr val="5F6974"/>
                </a:solidFill>
                <a:latin typeface="Aptos"/>
              </a:rPr>
              <a:t>Filter for </a:t>
            </a:r>
            <a:r>
              <a:rPr lang="de-DE" sz="1600" dirty="0" err="1">
                <a:solidFill>
                  <a:srgbClr val="5F6974"/>
                </a:solidFill>
                <a:latin typeface="Aptos"/>
              </a:rPr>
              <a:t>deleterious</a:t>
            </a:r>
            <a:r>
              <a:rPr lang="de-DE" sz="1600" dirty="0">
                <a:solidFill>
                  <a:srgbClr val="5F6974"/>
                </a:solidFill>
                <a:latin typeface="Aptos"/>
              </a:rPr>
              <a:t> </a:t>
            </a:r>
            <a:r>
              <a:rPr lang="de-DE" sz="1600" dirty="0" err="1">
                <a:solidFill>
                  <a:srgbClr val="5F6974"/>
                </a:solidFill>
                <a:latin typeface="Aptos"/>
              </a:rPr>
              <a:t>variants</a:t>
            </a:r>
            <a:endParaRPr sz="1600" b="0" i="0" dirty="0">
              <a:solidFill>
                <a:srgbClr val="5F6974"/>
              </a:solidFill>
              <a:latin typeface="Aptos"/>
            </a:endParaRPr>
          </a:p>
        </p:txBody>
      </p:sp>
      <p:graphicFrame>
        <p:nvGraphicFramePr>
          <p:cNvPr id="85" name="Tabelle 84">
            <a:extLst>
              <a:ext uri="{FF2B5EF4-FFF2-40B4-BE49-F238E27FC236}">
                <a16:creationId xmlns:a16="http://schemas.microsoft.com/office/drawing/2014/main" id="{750F3D7F-52B6-6C65-13BB-00135A99C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231915"/>
              </p:ext>
            </p:extLst>
          </p:nvPr>
        </p:nvGraphicFramePr>
        <p:xfrm>
          <a:off x="814692" y="3620858"/>
          <a:ext cx="16230599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7572">
                  <a:extLst>
                    <a:ext uri="{9D8B030D-6E8A-4147-A177-3AD203B41FA5}">
                      <a16:colId xmlns:a16="http://schemas.microsoft.com/office/drawing/2014/main" val="1996865709"/>
                    </a:ext>
                  </a:extLst>
                </a:gridCol>
                <a:gridCol w="3015575">
                  <a:extLst>
                    <a:ext uri="{9D8B030D-6E8A-4147-A177-3AD203B41FA5}">
                      <a16:colId xmlns:a16="http://schemas.microsoft.com/office/drawing/2014/main" val="1781702309"/>
                    </a:ext>
                  </a:extLst>
                </a:gridCol>
                <a:gridCol w="3035030">
                  <a:extLst>
                    <a:ext uri="{9D8B030D-6E8A-4147-A177-3AD203B41FA5}">
                      <a16:colId xmlns:a16="http://schemas.microsoft.com/office/drawing/2014/main" val="2027985985"/>
                    </a:ext>
                  </a:extLst>
                </a:gridCol>
                <a:gridCol w="3035029">
                  <a:extLst>
                    <a:ext uri="{9D8B030D-6E8A-4147-A177-3AD203B41FA5}">
                      <a16:colId xmlns:a16="http://schemas.microsoft.com/office/drawing/2014/main" val="1629576781"/>
                    </a:ext>
                  </a:extLst>
                </a:gridCol>
                <a:gridCol w="3054485">
                  <a:extLst>
                    <a:ext uri="{9D8B030D-6E8A-4147-A177-3AD203B41FA5}">
                      <a16:colId xmlns:a16="http://schemas.microsoft.com/office/drawing/2014/main" val="3955238568"/>
                    </a:ext>
                  </a:extLst>
                </a:gridCol>
                <a:gridCol w="2842908">
                  <a:extLst>
                    <a:ext uri="{9D8B030D-6E8A-4147-A177-3AD203B41FA5}">
                      <a16:colId xmlns:a16="http://schemas.microsoft.com/office/drawing/2014/main" val="24859856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i="1" dirty="0">
                          <a:latin typeface="Aptos" panose="020B0004020202020204" pitchFamily="34" charset="0"/>
                        </a:rPr>
                        <a:t>#</a:t>
                      </a:r>
                      <a:r>
                        <a:rPr lang="de-DE" i="1" dirty="0" err="1">
                          <a:latin typeface="Aptos" panose="020B0004020202020204" pitchFamily="34" charset="0"/>
                        </a:rPr>
                        <a:t>Variants</a:t>
                      </a:r>
                      <a:endParaRPr lang="de-DE" i="1" dirty="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ptos" panose="020B0004020202020204" pitchFamily="34" charset="0"/>
                        </a:rPr>
                        <a:t>5983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ptos" panose="020B0004020202020204" pitchFamily="34" charset="0"/>
                        </a:rPr>
                        <a:t>153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ptos" panose="020B0004020202020204" pitchFamily="34" charset="0"/>
                        </a:rPr>
                        <a:t>152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ptos" panose="020B0004020202020204" pitchFamily="34" charset="0"/>
                        </a:rPr>
                        <a:t>37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ptos" panose="020B0004020202020204" pitchFamily="34" charset="0"/>
                        </a:rPr>
                        <a:t>   23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13327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i="1" dirty="0">
                          <a:latin typeface="Aptos" panose="020B0004020202020204" pitchFamily="34" charset="0"/>
                        </a:rPr>
                        <a:t>#Genes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ptos" panose="020B0004020202020204" pitchFamily="34" charset="0"/>
                        </a:rPr>
                        <a:t>298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ptos" panose="020B0004020202020204" pitchFamily="34" charset="0"/>
                        </a:rPr>
                        <a:t>61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ptos" panose="020B0004020202020204" pitchFamily="34" charset="0"/>
                        </a:rPr>
                        <a:t>60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ptos" panose="020B0004020202020204" pitchFamily="34" charset="0"/>
                        </a:rPr>
                        <a:t>17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latin typeface="Aptos" panose="020B0004020202020204" pitchFamily="34" charset="0"/>
                        </a:rPr>
                        <a:t>   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8733485"/>
                  </a:ext>
                </a:extLst>
              </a:tr>
            </a:tbl>
          </a:graphicData>
        </a:graphic>
      </p:graphicFrame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D97CA8A2-6A1D-3FED-E0CB-A964C2F38A64}"/>
              </a:ext>
            </a:extLst>
          </p:cNvPr>
          <p:cNvGrpSpPr/>
          <p:nvPr/>
        </p:nvGrpSpPr>
        <p:grpSpPr>
          <a:xfrm>
            <a:off x="5435071" y="4520908"/>
            <a:ext cx="3019451" cy="1308288"/>
            <a:chOff x="3880306" y="7105983"/>
            <a:chExt cx="3019451" cy="1308288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85BA7E6E-A283-AB69-A4FA-75C7084024D4}"/>
                </a:ext>
              </a:extLst>
            </p:cNvPr>
            <p:cNvSpPr/>
            <p:nvPr/>
          </p:nvSpPr>
          <p:spPr>
            <a:xfrm>
              <a:off x="4847717" y="7982055"/>
              <a:ext cx="432559" cy="432216"/>
            </a:xfrm>
            <a:prstGeom prst="ellipse">
              <a:avLst/>
            </a:prstGeom>
            <a:solidFill>
              <a:srgbClr val="298F8D"/>
            </a:solidFill>
            <a:ln>
              <a:solidFill>
                <a:srgbClr val="298F8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7" name="Gerade Verbindung 86">
              <a:extLst>
                <a:ext uri="{FF2B5EF4-FFF2-40B4-BE49-F238E27FC236}">
                  <a16:creationId xmlns:a16="http://schemas.microsoft.com/office/drawing/2014/main" id="{18DCC062-31D9-DEEA-EDA5-F9CF672DA9AA}"/>
                </a:ext>
              </a:extLst>
            </p:cNvPr>
            <p:cNvCxnSpPr/>
            <p:nvPr/>
          </p:nvCxnSpPr>
          <p:spPr>
            <a:xfrm>
              <a:off x="4279024" y="7315200"/>
              <a:ext cx="1569947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Gerade Verbindung 87">
              <a:extLst>
                <a:ext uri="{FF2B5EF4-FFF2-40B4-BE49-F238E27FC236}">
                  <a16:creationId xmlns:a16="http://schemas.microsoft.com/office/drawing/2014/main" id="{0CD07492-7D16-069E-3DC0-A227FE3E4104}"/>
                </a:ext>
              </a:extLst>
            </p:cNvPr>
            <p:cNvCxnSpPr>
              <a:cxnSpLocks/>
            </p:cNvCxnSpPr>
            <p:nvPr/>
          </p:nvCxnSpPr>
          <p:spPr>
            <a:xfrm>
              <a:off x="5063998" y="7315200"/>
              <a:ext cx="0" cy="66472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FA1EDAF5-351B-0809-2AF3-AEC690049C98}"/>
                </a:ext>
              </a:extLst>
            </p:cNvPr>
            <p:cNvSpPr txBox="1"/>
            <p:nvPr/>
          </p:nvSpPr>
          <p:spPr>
            <a:xfrm>
              <a:off x="3880306" y="7129474"/>
              <a:ext cx="10507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01</a:t>
              </a:r>
            </a:p>
          </p:txBody>
        </p:sp>
        <p:sp>
          <p:nvSpPr>
            <p:cNvPr id="91" name="Textfeld 90">
              <a:extLst>
                <a:ext uri="{FF2B5EF4-FFF2-40B4-BE49-F238E27FC236}">
                  <a16:creationId xmlns:a16="http://schemas.microsoft.com/office/drawing/2014/main" id="{21883A11-DB6D-A6A7-6969-FF64D69377D4}"/>
                </a:ext>
              </a:extLst>
            </p:cNvPr>
            <p:cNvSpPr txBox="1"/>
            <p:nvPr/>
          </p:nvSpPr>
          <p:spPr>
            <a:xfrm>
              <a:off x="5848971" y="7135191"/>
              <a:ext cx="10507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01</a:t>
              </a:r>
            </a:p>
          </p:txBody>
        </p: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28F392AC-DE79-4003-9DC4-8183AD8BF5A6}"/>
                </a:ext>
              </a:extLst>
            </p:cNvPr>
            <p:cNvSpPr txBox="1"/>
            <p:nvPr/>
          </p:nvSpPr>
          <p:spPr>
            <a:xfrm>
              <a:off x="4857958" y="8000135"/>
              <a:ext cx="10507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11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BCDFBD4F-0B3C-DA59-DAEE-3CA045DA5707}"/>
                </a:ext>
              </a:extLst>
            </p:cNvPr>
            <p:cNvSpPr/>
            <p:nvPr/>
          </p:nvSpPr>
          <p:spPr>
            <a:xfrm>
              <a:off x="5848971" y="7105983"/>
              <a:ext cx="432559" cy="432216"/>
            </a:xfrm>
            <a:prstGeom prst="ellipse">
              <a:avLst/>
            </a:prstGeom>
            <a:noFill/>
            <a:ln>
              <a:solidFill>
                <a:srgbClr val="298F8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5" name="Rechteck 94">
              <a:extLst>
                <a:ext uri="{FF2B5EF4-FFF2-40B4-BE49-F238E27FC236}">
                  <a16:creationId xmlns:a16="http://schemas.microsoft.com/office/drawing/2014/main" id="{78F3A7CB-96A2-46C9-7A2C-2A71E10F88EB}"/>
                </a:ext>
              </a:extLst>
            </p:cNvPr>
            <p:cNvSpPr/>
            <p:nvPr/>
          </p:nvSpPr>
          <p:spPr>
            <a:xfrm>
              <a:off x="3880306" y="7129474"/>
              <a:ext cx="395718" cy="369332"/>
            </a:xfrm>
            <a:prstGeom prst="rect">
              <a:avLst/>
            </a:prstGeom>
            <a:noFill/>
            <a:ln>
              <a:solidFill>
                <a:srgbClr val="298F8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aphicFrame>
        <p:nvGraphicFramePr>
          <p:cNvPr id="99" name="Tabelle 98">
            <a:extLst>
              <a:ext uri="{FF2B5EF4-FFF2-40B4-BE49-F238E27FC236}">
                <a16:creationId xmlns:a16="http://schemas.microsoft.com/office/drawing/2014/main" id="{5EB0FD36-0878-4932-1972-DF51C9D4F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58593"/>
              </p:ext>
            </p:extLst>
          </p:nvPr>
        </p:nvGraphicFramePr>
        <p:xfrm>
          <a:off x="4065055" y="6952987"/>
          <a:ext cx="982855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3115">
                  <a:extLst>
                    <a:ext uri="{9D8B030D-6E8A-4147-A177-3AD203B41FA5}">
                      <a16:colId xmlns:a16="http://schemas.microsoft.com/office/drawing/2014/main" val="2564046155"/>
                    </a:ext>
                  </a:extLst>
                </a:gridCol>
                <a:gridCol w="6955436">
                  <a:extLst>
                    <a:ext uri="{9D8B030D-6E8A-4147-A177-3AD203B41FA5}">
                      <a16:colId xmlns:a16="http://schemas.microsoft.com/office/drawing/2014/main" val="12558748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b="0" dirty="0" err="1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No</a:t>
                      </a:r>
                      <a:r>
                        <a:rPr lang="de-DE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de-DE" b="0" dirty="0" err="1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disease</a:t>
                      </a:r>
                      <a:r>
                        <a:rPr lang="de-DE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de-DE" b="0" dirty="0" err="1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association</a:t>
                      </a:r>
                      <a:endParaRPr lang="de-DE" b="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CCT8L2, ZNF280A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009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ptos" panose="020B0004020202020204" pitchFamily="34" charset="0"/>
                        </a:rPr>
                        <a:t>Cancer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ptos" panose="020B0004020202020204" pitchFamily="34" charset="0"/>
                        </a:rPr>
                        <a:t>ATP6V1E1, MED15, RFPL2, XRCC6, NHP2L1, ATP5L2, BRD1, ZBED4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790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1" dirty="0">
                          <a:latin typeface="Aptos" panose="020B0004020202020204" pitchFamily="34" charset="0"/>
                        </a:rPr>
                        <a:t>CEDNIK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b="1" dirty="0">
                          <a:latin typeface="Aptos" panose="020B0004020202020204" pitchFamily="34" charset="0"/>
                        </a:rPr>
                        <a:t>SNAP29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2461"/>
                  </a:ext>
                </a:extLst>
              </a:tr>
            </a:tbl>
          </a:graphicData>
        </a:graphic>
      </p:graphicFrame>
      <p:sp>
        <p:nvSpPr>
          <p:cNvPr id="100" name="Nach oben gebogener Pfeil 99">
            <a:extLst>
              <a:ext uri="{FF2B5EF4-FFF2-40B4-BE49-F238E27FC236}">
                <a16:creationId xmlns:a16="http://schemas.microsoft.com/office/drawing/2014/main" id="{52F332D0-AAF7-53DB-AA4E-A285160673FC}"/>
              </a:ext>
            </a:extLst>
          </p:cNvPr>
          <p:cNvSpPr/>
          <p:nvPr/>
        </p:nvSpPr>
        <p:spPr>
          <a:xfrm rot="5400000" flipV="1">
            <a:off x="14563729" y="6386208"/>
            <a:ext cx="1284253" cy="1473186"/>
          </a:xfrm>
          <a:prstGeom prst="bentUpArrow">
            <a:avLst/>
          </a:prstGeom>
          <a:solidFill>
            <a:srgbClr val="DEECC7"/>
          </a:solidFill>
          <a:ln>
            <a:solidFill>
              <a:srgbClr val="DEEC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B579CA6F-C72F-7F2F-B38A-4EB6281335B8}"/>
              </a:ext>
            </a:extLst>
          </p:cNvPr>
          <p:cNvSpPr txBox="1"/>
          <p:nvPr/>
        </p:nvSpPr>
        <p:spPr>
          <a:xfrm>
            <a:off x="14736712" y="7276725"/>
            <a:ext cx="1326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>
                <a:latin typeface="Aptos" panose="020B0004020202020204" pitchFamily="34" charset="0"/>
              </a:rPr>
              <a:t>Varsome</a:t>
            </a:r>
            <a:endParaRPr lang="de-DE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837213-81FC-81C1-E317-85661053C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AA9F8EC7-29F0-B90A-B964-12CB6B37ED69}"/>
              </a:ext>
            </a:extLst>
          </p:cNvPr>
          <p:cNvSpPr/>
          <p:nvPr/>
        </p:nvSpPr>
        <p:spPr>
          <a:xfrm>
            <a:off x="-328983" y="-280669"/>
            <a:ext cx="6549656" cy="113981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C5CA904-C94E-ACCE-9A96-D6633B8E7A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523" y="-132057"/>
            <a:ext cx="13341477" cy="10419057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089EF51B-E0E1-8F6E-C34D-F35939D6FA6C}"/>
              </a:ext>
            </a:extLst>
          </p:cNvPr>
          <p:cNvSpPr txBox="1"/>
          <p:nvPr/>
        </p:nvSpPr>
        <p:spPr>
          <a:xfrm>
            <a:off x="1028699" y="820742"/>
            <a:ext cx="9532093" cy="1055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000" b="1" dirty="0">
                <a:solidFill>
                  <a:srgbClr val="2D2D2D"/>
                </a:solidFill>
                <a:latin typeface="Montserrat Bold"/>
                <a:sym typeface="Montserrat Bold"/>
              </a:rPr>
              <a:t>SNAP29</a:t>
            </a:r>
            <a:endParaRPr lang="en-US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886B859C-F49B-F473-AB56-C1C75512AE9C}"/>
              </a:ext>
            </a:extLst>
          </p:cNvPr>
          <p:cNvSpPr txBox="1"/>
          <p:nvPr/>
        </p:nvSpPr>
        <p:spPr>
          <a:xfrm>
            <a:off x="1028699" y="2409998"/>
            <a:ext cx="4948768" cy="1835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600" dirty="0">
                <a:latin typeface="Aptos" panose="020B0004020202020204" pitchFamily="34" charset="0"/>
              </a:rPr>
              <a:t>Family of SNARE </a:t>
            </a:r>
            <a:r>
              <a:rPr lang="de-DE" sz="2600" dirty="0" err="1">
                <a:latin typeface="Aptos" panose="020B0004020202020204" pitchFamily="34" charset="0"/>
              </a:rPr>
              <a:t>proteins</a:t>
            </a:r>
            <a:endParaRPr lang="de-DE" sz="2600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600" dirty="0" err="1">
                <a:latin typeface="Aptos" panose="020B0004020202020204" pitchFamily="34" charset="0"/>
              </a:rPr>
              <a:t>Conserved</a:t>
            </a:r>
            <a:r>
              <a:rPr lang="de-DE" sz="2600" dirty="0">
                <a:latin typeface="Aptos" panose="020B0004020202020204" pitchFamily="34" charset="0"/>
              </a:rPr>
              <a:t> </a:t>
            </a:r>
            <a:r>
              <a:rPr lang="de-DE" sz="2600" dirty="0" err="1">
                <a:latin typeface="Aptos" panose="020B0004020202020204" pitchFamily="34" charset="0"/>
              </a:rPr>
              <a:t>trafficking</a:t>
            </a:r>
            <a:r>
              <a:rPr lang="de-DE" sz="2600" dirty="0">
                <a:latin typeface="Aptos" panose="020B0004020202020204" pitchFamily="34" charset="0"/>
              </a:rPr>
              <a:t> </a:t>
            </a:r>
            <a:r>
              <a:rPr lang="de-DE" sz="2600" dirty="0" err="1">
                <a:latin typeface="Aptos" panose="020B0004020202020204" pitchFamily="34" charset="0"/>
              </a:rPr>
              <a:t>role</a:t>
            </a:r>
            <a:endParaRPr lang="de-DE" sz="2600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600" dirty="0" err="1">
                <a:latin typeface="Aptos" panose="020B0004020202020204" pitchFamily="34" charset="0"/>
              </a:rPr>
              <a:t>Expressed</a:t>
            </a:r>
            <a:r>
              <a:rPr lang="de-DE" sz="2600" dirty="0">
                <a:latin typeface="Aptos" panose="020B0004020202020204" pitchFamily="34" charset="0"/>
              </a:rPr>
              <a:t> </a:t>
            </a:r>
            <a:r>
              <a:rPr lang="de-DE" sz="2600" dirty="0" err="1">
                <a:latin typeface="Aptos" panose="020B0004020202020204" pitchFamily="34" charset="0"/>
              </a:rPr>
              <a:t>across</a:t>
            </a:r>
            <a:r>
              <a:rPr lang="de-DE" sz="2600" dirty="0">
                <a:latin typeface="Aptos" panose="020B0004020202020204" pitchFamily="34" charset="0"/>
              </a:rPr>
              <a:t> all </a:t>
            </a:r>
            <a:r>
              <a:rPr lang="de-DE" sz="2600" dirty="0" err="1">
                <a:latin typeface="Aptos" panose="020B0004020202020204" pitchFamily="34" charset="0"/>
              </a:rPr>
              <a:t>tissues</a:t>
            </a:r>
            <a:endParaRPr lang="de-DE" sz="2600" dirty="0">
              <a:latin typeface="Aptos" panose="020B0004020202020204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FC15847-48E8-E7EE-4EEB-DA85CAF2E11A}"/>
              </a:ext>
            </a:extLst>
          </p:cNvPr>
          <p:cNvSpPr txBox="1"/>
          <p:nvPr/>
        </p:nvSpPr>
        <p:spPr>
          <a:xfrm>
            <a:off x="16710314" y="10025476"/>
            <a:ext cx="93091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i="1" dirty="0">
                <a:latin typeface="Aptos"/>
              </a:rPr>
              <a:t>Morelli et al, 2021</a:t>
            </a:r>
            <a:endParaRPr lang="de-DE" sz="1400" i="1" dirty="0"/>
          </a:p>
        </p:txBody>
      </p:sp>
    </p:spTree>
    <p:extLst>
      <p:ext uri="{BB962C8B-B14F-4D97-AF65-F5344CB8AC3E}">
        <p14:creationId xmlns:p14="http://schemas.microsoft.com/office/powerpoint/2010/main" val="133467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028700" y="1171575"/>
            <a:ext cx="12575788" cy="1055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000" b="1" dirty="0">
                <a:solidFill>
                  <a:srgbClr val="2D2D2D"/>
                </a:solidFill>
                <a:latin typeface="Montserrat Bold"/>
                <a:sym typeface="Montserrat Bold"/>
              </a:rPr>
              <a:t>Our candidate variant</a:t>
            </a:r>
            <a:endParaRPr lang="en-US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018272A-4CC4-8A99-7311-E35A79E21A54}"/>
              </a:ext>
            </a:extLst>
          </p:cNvPr>
          <p:cNvSpPr/>
          <p:nvPr/>
        </p:nvSpPr>
        <p:spPr>
          <a:xfrm>
            <a:off x="-246187" y="-167054"/>
            <a:ext cx="474785" cy="10621107"/>
          </a:xfrm>
          <a:prstGeom prst="rect">
            <a:avLst/>
          </a:prstGeom>
          <a:solidFill>
            <a:srgbClr val="DEECC7"/>
          </a:solidFill>
          <a:ln>
            <a:solidFill>
              <a:srgbClr val="DEEC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5ECEAD2-58F7-BDAE-06B1-D23831BB8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8"/>
          <a:stretch>
            <a:fillRect/>
          </a:stretch>
        </p:blipFill>
        <p:spPr>
          <a:xfrm>
            <a:off x="1386183" y="2360271"/>
            <a:ext cx="11860822" cy="7190129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A5C3EC36-9461-BD2F-162B-191ED3028F24}"/>
              </a:ext>
            </a:extLst>
          </p:cNvPr>
          <p:cNvSpPr txBox="1"/>
          <p:nvPr/>
        </p:nvSpPr>
        <p:spPr>
          <a:xfrm>
            <a:off x="13674885" y="2854235"/>
            <a:ext cx="3654810" cy="1835118"/>
          </a:xfrm>
          <a:prstGeom prst="rect">
            <a:avLst/>
          </a:prstGeom>
          <a:noFill/>
          <a:ln w="57150">
            <a:solidFill>
              <a:srgbClr val="DEECC7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de-DE" sz="2400" dirty="0">
                <a:latin typeface="Aptos" panose="020B0004020202020204" pitchFamily="34" charset="0"/>
              </a:rPr>
              <a:t>chr22:g.</a:t>
            </a:r>
            <a:r>
              <a:rPr lang="de-DE" sz="2600" dirty="0">
                <a:latin typeface="Aptos" panose="020B0004020202020204" pitchFamily="34" charset="0"/>
              </a:rPr>
              <a:t>21224656G</a:t>
            </a:r>
            <a:r>
              <a:rPr lang="de-DE" sz="2400" dirty="0">
                <a:latin typeface="Aptos" panose="020B0004020202020204" pitchFamily="34" charset="0"/>
              </a:rPr>
              <a:t>&gt;C</a:t>
            </a:r>
          </a:p>
          <a:p>
            <a:pPr algn="ctr">
              <a:lnSpc>
                <a:spcPct val="150000"/>
              </a:lnSpc>
            </a:pPr>
            <a:r>
              <a:rPr lang="de-DE" sz="2600" dirty="0">
                <a:latin typeface="Aptos" panose="020B0004020202020204" pitchFamily="34" charset="0"/>
              </a:rPr>
              <a:t>c.269G&gt;C</a:t>
            </a:r>
          </a:p>
          <a:p>
            <a:pPr algn="ctr">
              <a:lnSpc>
                <a:spcPct val="150000"/>
              </a:lnSpc>
            </a:pPr>
            <a:r>
              <a:rPr lang="de-DE" sz="2600" dirty="0">
                <a:latin typeface="Aptos" panose="020B0004020202020204" pitchFamily="34" charset="0"/>
              </a:rPr>
              <a:t>p.Arg90Pro</a:t>
            </a:r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EE86634E-2AE8-CA8C-A7B0-5FD293740B17}"/>
              </a:ext>
            </a:extLst>
          </p:cNvPr>
          <p:cNvGrpSpPr/>
          <p:nvPr/>
        </p:nvGrpSpPr>
        <p:grpSpPr>
          <a:xfrm>
            <a:off x="14318600" y="5301191"/>
            <a:ext cx="3019451" cy="1308288"/>
            <a:chOff x="3880306" y="7105983"/>
            <a:chExt cx="3019451" cy="130828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B8A7E95-A510-58F3-83A6-4F5DE895E3C6}"/>
                </a:ext>
              </a:extLst>
            </p:cNvPr>
            <p:cNvSpPr/>
            <p:nvPr/>
          </p:nvSpPr>
          <p:spPr>
            <a:xfrm>
              <a:off x="4847717" y="7982055"/>
              <a:ext cx="432559" cy="432216"/>
            </a:xfrm>
            <a:prstGeom prst="ellipse">
              <a:avLst/>
            </a:prstGeom>
            <a:solidFill>
              <a:srgbClr val="298F8D"/>
            </a:solidFill>
            <a:ln>
              <a:solidFill>
                <a:srgbClr val="298F8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5" name="Gerade Verbindung 14">
              <a:extLst>
                <a:ext uri="{FF2B5EF4-FFF2-40B4-BE49-F238E27FC236}">
                  <a16:creationId xmlns:a16="http://schemas.microsoft.com/office/drawing/2014/main" id="{340401AD-9F91-2A0F-455F-11FB4BF0262C}"/>
                </a:ext>
              </a:extLst>
            </p:cNvPr>
            <p:cNvCxnSpPr/>
            <p:nvPr/>
          </p:nvCxnSpPr>
          <p:spPr>
            <a:xfrm>
              <a:off x="4279024" y="7315200"/>
              <a:ext cx="1569947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Gerade Verbindung 15">
              <a:extLst>
                <a:ext uri="{FF2B5EF4-FFF2-40B4-BE49-F238E27FC236}">
                  <a16:creationId xmlns:a16="http://schemas.microsoft.com/office/drawing/2014/main" id="{96CAD236-F49B-E8E6-772C-A48526C1CB5B}"/>
                </a:ext>
              </a:extLst>
            </p:cNvPr>
            <p:cNvCxnSpPr>
              <a:cxnSpLocks/>
            </p:cNvCxnSpPr>
            <p:nvPr/>
          </p:nvCxnSpPr>
          <p:spPr>
            <a:xfrm>
              <a:off x="5063998" y="7315200"/>
              <a:ext cx="0" cy="66472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95C8383-9947-4160-79BF-0C7EEC916CE9}"/>
                </a:ext>
              </a:extLst>
            </p:cNvPr>
            <p:cNvSpPr txBox="1"/>
            <p:nvPr/>
          </p:nvSpPr>
          <p:spPr>
            <a:xfrm>
              <a:off x="3880306" y="7129474"/>
              <a:ext cx="10507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01</a:t>
              </a:r>
            </a:p>
          </p:txBody>
        </p: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D5C46E82-4D73-4010-CC88-DC7AE5457583}"/>
                </a:ext>
              </a:extLst>
            </p:cNvPr>
            <p:cNvSpPr txBox="1"/>
            <p:nvPr/>
          </p:nvSpPr>
          <p:spPr>
            <a:xfrm>
              <a:off x="5848971" y="7135191"/>
              <a:ext cx="10507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01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6917CD15-15B8-9793-054E-261A3278FAD2}"/>
                </a:ext>
              </a:extLst>
            </p:cNvPr>
            <p:cNvSpPr txBox="1"/>
            <p:nvPr/>
          </p:nvSpPr>
          <p:spPr>
            <a:xfrm>
              <a:off x="4857958" y="8000135"/>
              <a:ext cx="10507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11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778752E-0157-BAA0-BF2E-D09A369744DA}"/>
                </a:ext>
              </a:extLst>
            </p:cNvPr>
            <p:cNvSpPr/>
            <p:nvPr/>
          </p:nvSpPr>
          <p:spPr>
            <a:xfrm>
              <a:off x="5848971" y="7105983"/>
              <a:ext cx="432559" cy="432216"/>
            </a:xfrm>
            <a:prstGeom prst="ellipse">
              <a:avLst/>
            </a:prstGeom>
            <a:noFill/>
            <a:ln>
              <a:solidFill>
                <a:srgbClr val="298F8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2EE53179-5F33-7878-F36F-AECA93B63ACA}"/>
                </a:ext>
              </a:extLst>
            </p:cNvPr>
            <p:cNvSpPr/>
            <p:nvPr/>
          </p:nvSpPr>
          <p:spPr>
            <a:xfrm>
              <a:off x="3880306" y="7129474"/>
              <a:ext cx="395718" cy="369332"/>
            </a:xfrm>
            <a:prstGeom prst="rect">
              <a:avLst/>
            </a:prstGeom>
            <a:noFill/>
            <a:ln>
              <a:solidFill>
                <a:srgbClr val="298F8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23" name="Grafik 22">
            <a:extLst>
              <a:ext uri="{FF2B5EF4-FFF2-40B4-BE49-F238E27FC236}">
                <a16:creationId xmlns:a16="http://schemas.microsoft.com/office/drawing/2014/main" id="{395BFD16-38DD-B314-C53F-9981609A78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32" r="61415" b="21326"/>
          <a:stretch>
            <a:fillRect/>
          </a:stretch>
        </p:blipFill>
        <p:spPr>
          <a:xfrm>
            <a:off x="13781687" y="7400337"/>
            <a:ext cx="3457917" cy="1473602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id="{EB7FC23B-4E6E-D85F-51DD-CB707E605150}"/>
              </a:ext>
            </a:extLst>
          </p:cNvPr>
          <p:cNvSpPr txBox="1"/>
          <p:nvPr/>
        </p:nvSpPr>
        <p:spPr>
          <a:xfrm>
            <a:off x="13683241" y="5079673"/>
            <a:ext cx="3654810" cy="1701043"/>
          </a:xfrm>
          <a:prstGeom prst="rect">
            <a:avLst/>
          </a:prstGeom>
          <a:noFill/>
          <a:ln w="57150">
            <a:solidFill>
              <a:srgbClr val="DEECC7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endParaRPr lang="de-DE" sz="2400" b="1" dirty="0">
              <a:latin typeface="Aptos" panose="020B0004020202020204" pitchFamily="34" charset="0"/>
            </a:endParaRPr>
          </a:p>
          <a:p>
            <a:pPr algn="ctr">
              <a:lnSpc>
                <a:spcPct val="150000"/>
              </a:lnSpc>
            </a:pPr>
            <a:endParaRPr lang="de-DE" sz="2400" b="1" dirty="0">
              <a:latin typeface="Aptos" panose="020B0004020202020204" pitchFamily="34" charset="0"/>
            </a:endParaRPr>
          </a:p>
          <a:p>
            <a:pPr algn="ctr">
              <a:lnSpc>
                <a:spcPct val="150000"/>
              </a:lnSpc>
            </a:pPr>
            <a:endParaRPr lang="de-DE" sz="2400" b="1" dirty="0">
              <a:latin typeface="Aptos" panose="020B0004020202020204" pitchFamily="34" charset="0"/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C519495E-F82A-2C89-5C12-DF9C0E7AC6D6}"/>
              </a:ext>
            </a:extLst>
          </p:cNvPr>
          <p:cNvSpPr txBox="1"/>
          <p:nvPr/>
        </p:nvSpPr>
        <p:spPr>
          <a:xfrm>
            <a:off x="13683241" y="7305111"/>
            <a:ext cx="3654810" cy="1701043"/>
          </a:xfrm>
          <a:prstGeom prst="rect">
            <a:avLst/>
          </a:prstGeom>
          <a:noFill/>
          <a:ln w="57150">
            <a:solidFill>
              <a:srgbClr val="DEECC7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endParaRPr lang="de-DE" sz="2400" dirty="0">
              <a:latin typeface="Aptos" panose="020B0004020202020204" pitchFamily="34" charset="0"/>
            </a:endParaRPr>
          </a:p>
          <a:p>
            <a:pPr algn="ctr">
              <a:lnSpc>
                <a:spcPct val="150000"/>
              </a:lnSpc>
            </a:pPr>
            <a:endParaRPr lang="de-DE" sz="2400" dirty="0">
              <a:latin typeface="Aptos" panose="020B0004020202020204" pitchFamily="34" charset="0"/>
            </a:endParaRPr>
          </a:p>
          <a:p>
            <a:pPr algn="ctr">
              <a:lnSpc>
                <a:spcPct val="150000"/>
              </a:lnSpc>
            </a:pPr>
            <a:endParaRPr lang="de-DE" sz="2400" dirty="0">
              <a:latin typeface="Aptos" panose="020B0004020202020204" pitchFamily="34" charset="0"/>
            </a:endParaRP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D4EA5B6B-D131-D278-6FAA-D5261E041E69}"/>
              </a:ext>
            </a:extLst>
          </p:cNvPr>
          <p:cNvSpPr txBox="1"/>
          <p:nvPr/>
        </p:nvSpPr>
        <p:spPr>
          <a:xfrm>
            <a:off x="11648590" y="9645626"/>
            <a:ext cx="9277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i="1" dirty="0">
                <a:latin typeface="Aptos" panose="020B0004020202020204" pitchFamily="34" charset="0"/>
                <a:ea typeface="+mn-lt"/>
                <a:cs typeface="+mn-lt"/>
              </a:rPr>
              <a:t>IGV </a:t>
            </a:r>
            <a:r>
              <a:rPr lang="de-DE" sz="1400" i="1" dirty="0" err="1">
                <a:latin typeface="Aptos" panose="020B0004020202020204" pitchFamily="34" charset="0"/>
                <a:ea typeface="+mn-lt"/>
                <a:cs typeface="+mn-lt"/>
              </a:rPr>
              <a:t>version</a:t>
            </a:r>
            <a:r>
              <a:rPr lang="de-DE" sz="1400" i="1" dirty="0">
                <a:latin typeface="Aptos" panose="020B0004020202020204" pitchFamily="34" charset="0"/>
                <a:ea typeface="+mn-lt"/>
                <a:cs typeface="+mn-lt"/>
              </a:rPr>
              <a:t> 2.19.8</a:t>
            </a:r>
            <a:endParaRPr lang="de-DE" sz="1400" i="1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83154-8B04-07B2-3411-1FADD0727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BDE4F469-B4EC-7E04-7605-B54E8815ADB8}"/>
              </a:ext>
            </a:extLst>
          </p:cNvPr>
          <p:cNvSpPr txBox="1"/>
          <p:nvPr/>
        </p:nvSpPr>
        <p:spPr>
          <a:xfrm>
            <a:off x="1028700" y="1171575"/>
            <a:ext cx="12575788" cy="1055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000" b="1" dirty="0">
                <a:solidFill>
                  <a:srgbClr val="2D2D2D"/>
                </a:solidFill>
                <a:latin typeface="Montserrat Bold"/>
                <a:sym typeface="Montserrat Bold"/>
              </a:rPr>
              <a:t>Our candidate variant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EC32BE3-3414-E3FE-60A4-573D529556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416" y="6984627"/>
            <a:ext cx="14779869" cy="2959695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D0CD687F-E89A-AEB1-0B9E-733CE57C2BBF}"/>
              </a:ext>
            </a:extLst>
          </p:cNvPr>
          <p:cNvSpPr/>
          <p:nvPr/>
        </p:nvSpPr>
        <p:spPr>
          <a:xfrm>
            <a:off x="-246187" y="-167054"/>
            <a:ext cx="474785" cy="10621107"/>
          </a:xfrm>
          <a:prstGeom prst="rect">
            <a:avLst/>
          </a:prstGeom>
          <a:solidFill>
            <a:srgbClr val="DEECC7"/>
          </a:solidFill>
          <a:ln>
            <a:solidFill>
              <a:srgbClr val="DEEC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89409DA-60CF-2FA7-D4CD-FF10676AC5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7591" y="0"/>
            <a:ext cx="4378993" cy="7765278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0311B9F6-A1C1-1202-32DB-23C991D21776}"/>
              </a:ext>
            </a:extLst>
          </p:cNvPr>
          <p:cNvSpPr/>
          <p:nvPr/>
        </p:nvSpPr>
        <p:spPr>
          <a:xfrm>
            <a:off x="16193312" y="4756698"/>
            <a:ext cx="340943" cy="354583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4C5707BF-1D99-B729-91DB-F5E61C40F6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63" r="36405" b="20723"/>
          <a:stretch>
            <a:fillRect/>
          </a:stretch>
        </p:blipFill>
        <p:spPr>
          <a:xfrm>
            <a:off x="11926277" y="3276850"/>
            <a:ext cx="2663658" cy="2959695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D546A504-8758-6523-2FB0-D4772AA0C8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21"/>
          <a:stretch>
            <a:fillRect/>
          </a:stretch>
        </p:blipFill>
        <p:spPr>
          <a:xfrm>
            <a:off x="12021596" y="3281180"/>
            <a:ext cx="2352430" cy="2955365"/>
          </a:xfrm>
          <a:prstGeom prst="rect">
            <a:avLst/>
          </a:prstGeom>
        </p:spPr>
      </p:pic>
      <p:cxnSp>
        <p:nvCxnSpPr>
          <p:cNvPr id="17" name="Gekrümmte Verbindung 16">
            <a:extLst>
              <a:ext uri="{FF2B5EF4-FFF2-40B4-BE49-F238E27FC236}">
                <a16:creationId xmlns:a16="http://schemas.microsoft.com/office/drawing/2014/main" id="{06DE5CCD-37F8-0ADF-12F8-E53F13D31531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>
            <a:off x="14374026" y="4933990"/>
            <a:ext cx="1819286" cy="1"/>
          </a:xfrm>
          <a:prstGeom prst="curvedConnector3">
            <a:avLst>
              <a:gd name="adj1" fmla="val 62683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71A1DE67-1F5B-8082-F0AE-CA93EA154389}"/>
              </a:ext>
            </a:extLst>
          </p:cNvPr>
          <p:cNvSpPr txBox="1"/>
          <p:nvPr/>
        </p:nvSpPr>
        <p:spPr>
          <a:xfrm>
            <a:off x="1028700" y="2564430"/>
            <a:ext cx="10320302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600" dirty="0">
                <a:latin typeface="Aptos" panose="020B0004020202020204" pitchFamily="34" charset="0"/>
              </a:rPr>
              <a:t>Variant </a:t>
            </a:r>
            <a:r>
              <a:rPr lang="de-DE" sz="2600" dirty="0" err="1">
                <a:latin typeface="Aptos" panose="020B0004020202020204" pitchFamily="34" charset="0"/>
              </a:rPr>
              <a:t>positioned</a:t>
            </a:r>
            <a:r>
              <a:rPr lang="de-DE" sz="2600" dirty="0">
                <a:latin typeface="Aptos" panose="020B0004020202020204" pitchFamily="34" charset="0"/>
              </a:rPr>
              <a:t> in </a:t>
            </a:r>
            <a:r>
              <a:rPr lang="de-DE" sz="2600" dirty="0" err="1">
                <a:latin typeface="Aptos" panose="020B0004020202020204" pitchFamily="34" charset="0"/>
              </a:rPr>
              <a:t>alpha</a:t>
            </a:r>
            <a:r>
              <a:rPr lang="de-DE" sz="2600" dirty="0">
                <a:latin typeface="Aptos" panose="020B0004020202020204" pitchFamily="34" charset="0"/>
              </a:rPr>
              <a:t> </a:t>
            </a:r>
            <a:r>
              <a:rPr lang="de-DE" sz="2600" dirty="0" err="1">
                <a:latin typeface="Aptos" panose="020B0004020202020204" pitchFamily="34" charset="0"/>
              </a:rPr>
              <a:t>helix</a:t>
            </a:r>
            <a:r>
              <a:rPr lang="de-DE" sz="2600" dirty="0">
                <a:latin typeface="Aptos" panose="020B0004020202020204" pitchFamily="34" charset="0"/>
              </a:rPr>
              <a:t> of V-Snare </a:t>
            </a:r>
            <a:r>
              <a:rPr lang="de-DE" sz="2600" dirty="0" err="1">
                <a:latin typeface="Aptos" panose="020B0004020202020204" pitchFamily="34" charset="0"/>
              </a:rPr>
              <a:t>motif</a:t>
            </a:r>
            <a:endParaRPr lang="de-DE" sz="2600" dirty="0">
              <a:latin typeface="Aptos" panose="020B00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à"/>
            </a:pPr>
            <a:r>
              <a:rPr lang="de-DE" sz="2600" dirty="0" err="1">
                <a:latin typeface="Aptos" panose="020B0004020202020204" pitchFamily="34" charset="0"/>
                <a:sym typeface="Wingdings" pitchFamily="2" charset="2"/>
              </a:rPr>
              <a:t>Conserved</a:t>
            </a:r>
            <a:r>
              <a:rPr lang="de-DE" sz="2600" dirty="0">
                <a:latin typeface="Aptos" panose="020B0004020202020204" pitchFamily="34" charset="0"/>
                <a:sym typeface="Wingdings" pitchFamily="2" charset="2"/>
              </a:rPr>
              <a:t> </a:t>
            </a:r>
            <a:r>
              <a:rPr lang="de-DE" sz="2600" dirty="0" err="1">
                <a:latin typeface="Aptos" panose="020B0004020202020204" pitchFamily="34" charset="0"/>
                <a:sym typeface="Wingdings" pitchFamily="2" charset="2"/>
              </a:rPr>
              <a:t>structure</a:t>
            </a:r>
            <a:endParaRPr lang="de-DE" sz="2600" dirty="0">
              <a:latin typeface="Aptos" panose="020B0004020202020204" pitchFamily="34" charset="0"/>
              <a:sym typeface="Wingdings" pitchFamily="2" charset="2"/>
            </a:endParaRPr>
          </a:p>
          <a:p>
            <a:pPr>
              <a:lnSpc>
                <a:spcPct val="150000"/>
              </a:lnSpc>
            </a:pPr>
            <a:endParaRPr lang="de-DE" sz="2600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600" dirty="0" err="1">
                <a:latin typeface="Aptos" panose="020B0004020202020204" pitchFamily="34" charset="0"/>
              </a:rPr>
              <a:t>Proline</a:t>
            </a:r>
            <a:r>
              <a:rPr lang="de-DE" sz="2600" dirty="0">
                <a:latin typeface="Aptos" panose="020B0004020202020204" pitchFamily="34" charset="0"/>
              </a:rPr>
              <a:t> </a:t>
            </a:r>
            <a:r>
              <a:rPr lang="de-DE" sz="2600" dirty="0" err="1">
                <a:latin typeface="Aptos" panose="020B0004020202020204" pitchFamily="34" charset="0"/>
              </a:rPr>
              <a:t>known</a:t>
            </a:r>
            <a:r>
              <a:rPr lang="de-DE" sz="2600" dirty="0">
                <a:latin typeface="Aptos" panose="020B0004020202020204" pitchFamily="34" charset="0"/>
              </a:rPr>
              <a:t> to break </a:t>
            </a:r>
            <a:r>
              <a:rPr lang="de-DE" sz="2600" dirty="0" err="1">
                <a:latin typeface="Aptos" panose="020B0004020202020204" pitchFamily="34" charset="0"/>
              </a:rPr>
              <a:t>helical</a:t>
            </a:r>
            <a:r>
              <a:rPr lang="de-DE" sz="2600" dirty="0">
                <a:latin typeface="Aptos" panose="020B0004020202020204" pitchFamily="34" charset="0"/>
              </a:rPr>
              <a:t> </a:t>
            </a:r>
            <a:r>
              <a:rPr lang="de-DE" sz="2600" dirty="0" err="1">
                <a:latin typeface="Aptos" panose="020B0004020202020204" pitchFamily="34" charset="0"/>
              </a:rPr>
              <a:t>structure</a:t>
            </a:r>
            <a:r>
              <a:rPr lang="de-DE" sz="2600" dirty="0">
                <a:latin typeface="Aptos" panose="020B0004020202020204" pitchFamily="34" charset="0"/>
              </a:rPr>
              <a:t> due to </a:t>
            </a:r>
            <a:r>
              <a:rPr lang="de-DE" sz="2600" dirty="0" err="1">
                <a:latin typeface="Aptos" panose="020B0004020202020204" pitchFamily="34" charset="0"/>
              </a:rPr>
              <a:t>missing</a:t>
            </a:r>
            <a:r>
              <a:rPr lang="de-DE" sz="2600" dirty="0">
                <a:latin typeface="Aptos" panose="020B0004020202020204" pitchFamily="34" charset="0"/>
              </a:rPr>
              <a:t> NH-group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à"/>
            </a:pPr>
            <a:r>
              <a:rPr lang="de-DE" sz="2600" dirty="0" err="1">
                <a:latin typeface="Aptos" panose="020B0004020202020204" pitchFamily="34" charset="0"/>
                <a:sym typeface="Wingdings" pitchFamily="2" charset="2"/>
              </a:rPr>
              <a:t>AlphaMissense</a:t>
            </a:r>
            <a:r>
              <a:rPr lang="de-DE" sz="2600" dirty="0">
                <a:latin typeface="Aptos" panose="020B0004020202020204" pitchFamily="34" charset="0"/>
                <a:sym typeface="Wingdings" pitchFamily="2" charset="2"/>
              </a:rPr>
              <a:t> </a:t>
            </a:r>
            <a:r>
              <a:rPr lang="de-DE" sz="2600" dirty="0" err="1">
                <a:latin typeface="Aptos" panose="020B0004020202020204" pitchFamily="34" charset="0"/>
                <a:sym typeface="Wingdings" pitchFamily="2" charset="2"/>
              </a:rPr>
              <a:t>prediction</a:t>
            </a:r>
            <a:r>
              <a:rPr lang="de-DE" sz="2600" dirty="0">
                <a:latin typeface="Aptos" panose="020B0004020202020204" pitchFamily="34" charset="0"/>
                <a:sym typeface="Wingdings" pitchFamily="2" charset="2"/>
              </a:rPr>
              <a:t>:  “</a:t>
            </a:r>
            <a:r>
              <a:rPr lang="de-DE" sz="2600" dirty="0" err="1">
                <a:latin typeface="Aptos" panose="020B0004020202020204" pitchFamily="34" charset="0"/>
                <a:sym typeface="Wingdings" pitchFamily="2" charset="2"/>
              </a:rPr>
              <a:t>pathogenic</a:t>
            </a:r>
            <a:r>
              <a:rPr lang="de-DE" sz="2600" dirty="0">
                <a:latin typeface="Aptos" panose="020B0004020202020204" pitchFamily="34" charset="0"/>
                <a:sym typeface="Wingdings" pitchFamily="2" charset="2"/>
              </a:rPr>
              <a:t> moderate“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à"/>
            </a:pPr>
            <a:endParaRPr lang="de-DE" sz="2600" dirty="0">
              <a:latin typeface="Aptos" panose="020B0004020202020204" pitchFamily="34" charset="0"/>
              <a:sym typeface="Wingdings" pitchFamily="2" charset="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600" dirty="0" err="1">
                <a:latin typeface="Aptos" panose="020B0004020202020204" pitchFamily="34" charset="0"/>
                <a:sym typeface="Wingdings" pitchFamily="2" charset="2"/>
              </a:rPr>
              <a:t>Several</a:t>
            </a:r>
            <a:r>
              <a:rPr lang="de-DE" sz="2600" dirty="0">
                <a:latin typeface="Aptos" panose="020B0004020202020204" pitchFamily="34" charset="0"/>
                <a:sym typeface="Wingdings" pitchFamily="2" charset="2"/>
              </a:rPr>
              <a:t> </a:t>
            </a:r>
            <a:r>
              <a:rPr lang="de-DE" sz="2600" dirty="0" err="1">
                <a:latin typeface="Aptos" panose="020B0004020202020204" pitchFamily="34" charset="0"/>
                <a:sym typeface="Wingdings" pitchFamily="2" charset="2"/>
              </a:rPr>
              <a:t>variants</a:t>
            </a:r>
            <a:r>
              <a:rPr lang="de-DE" sz="2600" dirty="0">
                <a:latin typeface="Aptos" panose="020B0004020202020204" pitchFamily="34" charset="0"/>
                <a:sym typeface="Wingdings" pitchFamily="2" charset="2"/>
              </a:rPr>
              <a:t> in SNAP29 </a:t>
            </a:r>
            <a:r>
              <a:rPr lang="de-DE" sz="2600" dirty="0" err="1">
                <a:latin typeface="Aptos" panose="020B0004020202020204" pitchFamily="34" charset="0"/>
                <a:sym typeface="Wingdings" pitchFamily="2" charset="2"/>
              </a:rPr>
              <a:t>associated</a:t>
            </a:r>
            <a:r>
              <a:rPr lang="de-DE" sz="2600" dirty="0">
                <a:latin typeface="Aptos" panose="020B0004020202020204" pitchFamily="34" charset="0"/>
                <a:sym typeface="Wingdings" pitchFamily="2" charset="2"/>
              </a:rPr>
              <a:t> </a:t>
            </a:r>
            <a:r>
              <a:rPr lang="de-DE" sz="2600" dirty="0" err="1">
                <a:latin typeface="Aptos" panose="020B0004020202020204" pitchFamily="34" charset="0"/>
                <a:sym typeface="Wingdings" pitchFamily="2" charset="2"/>
              </a:rPr>
              <a:t>with</a:t>
            </a:r>
            <a:r>
              <a:rPr lang="de-DE" sz="2600" dirty="0">
                <a:latin typeface="Aptos" panose="020B0004020202020204" pitchFamily="34" charset="0"/>
                <a:sym typeface="Wingdings" pitchFamily="2" charset="2"/>
              </a:rPr>
              <a:t> CEDNIK </a:t>
            </a:r>
            <a:r>
              <a:rPr lang="de-DE" sz="2600" dirty="0" err="1">
                <a:latin typeface="Aptos" panose="020B0004020202020204" pitchFamily="34" charset="0"/>
                <a:sym typeface="Wingdings" pitchFamily="2" charset="2"/>
              </a:rPr>
              <a:t>syndrome</a:t>
            </a:r>
            <a:endParaRPr lang="de-DE" sz="2600" dirty="0">
              <a:latin typeface="Aptos" panose="020B0004020202020204" pitchFamily="34" charset="0"/>
              <a:sym typeface="Wingdings" pitchFamily="2" charset="2"/>
            </a:endParaRPr>
          </a:p>
          <a:p>
            <a:pPr marL="342900" indent="-342900">
              <a:buFont typeface="Wingdings" pitchFamily="2" charset="2"/>
              <a:buChar char="à"/>
            </a:pPr>
            <a:endParaRPr lang="de-DE" sz="26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600" dirty="0">
              <a:latin typeface="Aptos" panose="020B0004020202020204" pitchFamily="34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FFB42468-C6A0-63F1-113F-D9221F54349D}"/>
              </a:ext>
            </a:extLst>
          </p:cNvPr>
          <p:cNvSpPr/>
          <p:nvPr/>
        </p:nvSpPr>
        <p:spPr>
          <a:xfrm>
            <a:off x="11926277" y="3276850"/>
            <a:ext cx="2447749" cy="29596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429B3672-F023-1B1C-62E2-EBD43C9BEBD8}"/>
              </a:ext>
            </a:extLst>
          </p:cNvPr>
          <p:cNvSpPr txBox="1"/>
          <p:nvPr/>
        </p:nvSpPr>
        <p:spPr>
          <a:xfrm>
            <a:off x="12898662" y="6237226"/>
            <a:ext cx="9277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i="1" dirty="0">
                <a:latin typeface="Aptos"/>
              </a:rPr>
              <a:t>Jumper et al. 2021</a:t>
            </a:r>
            <a:endParaRPr lang="de-DE" sz="1400" i="1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0E5F221E-494A-52A8-591A-71E1FED6EEAE}"/>
              </a:ext>
            </a:extLst>
          </p:cNvPr>
          <p:cNvSpPr txBox="1"/>
          <p:nvPr/>
        </p:nvSpPr>
        <p:spPr>
          <a:xfrm>
            <a:off x="13626401" y="9917707"/>
            <a:ext cx="112204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i="1" dirty="0" err="1">
                <a:latin typeface="Aptos"/>
                <a:ea typeface="+mn-lt"/>
                <a:cs typeface="+mn-lt"/>
              </a:rPr>
              <a:t>cBioPortal</a:t>
            </a:r>
            <a:r>
              <a:rPr lang="de-DE" sz="1400" i="1" dirty="0">
                <a:latin typeface="Aptos"/>
                <a:ea typeface="+mn-lt"/>
                <a:cs typeface="+mn-lt"/>
              </a:rPr>
              <a:t> v7.1.2</a:t>
            </a:r>
            <a:endParaRPr lang="de-DE" sz="1400" i="1" dirty="0"/>
          </a:p>
        </p:txBody>
      </p:sp>
    </p:spTree>
    <p:extLst>
      <p:ext uri="{BB962C8B-B14F-4D97-AF65-F5344CB8AC3E}">
        <p14:creationId xmlns:p14="http://schemas.microsoft.com/office/powerpoint/2010/main" val="106180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8216" y="3235425"/>
            <a:ext cx="3857880" cy="5234781"/>
            <a:chOff x="0" y="0"/>
            <a:chExt cx="1016067" cy="11398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6067" cy="1139804"/>
            </a:xfrm>
            <a:custGeom>
              <a:avLst/>
              <a:gdLst/>
              <a:ahLst/>
              <a:cxnLst/>
              <a:rect l="l" t="t" r="r" b="b"/>
              <a:pathLst>
                <a:path w="1016067" h="1139804">
                  <a:moveTo>
                    <a:pt x="38129" y="0"/>
                  </a:moveTo>
                  <a:lnTo>
                    <a:pt x="977938" y="0"/>
                  </a:lnTo>
                  <a:cubicBezTo>
                    <a:pt x="998996" y="0"/>
                    <a:pt x="1016067" y="17071"/>
                    <a:pt x="1016067" y="38129"/>
                  </a:cubicBezTo>
                  <a:lnTo>
                    <a:pt x="1016067" y="1101675"/>
                  </a:lnTo>
                  <a:cubicBezTo>
                    <a:pt x="1016067" y="1122733"/>
                    <a:pt x="998996" y="1139804"/>
                    <a:pt x="977938" y="1139804"/>
                  </a:cubicBezTo>
                  <a:lnTo>
                    <a:pt x="38129" y="1139804"/>
                  </a:lnTo>
                  <a:cubicBezTo>
                    <a:pt x="17071" y="1139804"/>
                    <a:pt x="0" y="1122733"/>
                    <a:pt x="0" y="1101675"/>
                  </a:cubicBezTo>
                  <a:lnTo>
                    <a:pt x="0" y="38129"/>
                  </a:lnTo>
                  <a:cubicBezTo>
                    <a:pt x="0" y="17071"/>
                    <a:pt x="17071" y="0"/>
                    <a:pt x="38129" y="0"/>
                  </a:cubicBezTo>
                  <a:close/>
                </a:path>
              </a:pathLst>
            </a:custGeom>
            <a:solidFill>
              <a:srgbClr val="DDECC7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016067" cy="1187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251514" y="3235425"/>
            <a:ext cx="3857880" cy="5234788"/>
            <a:chOff x="0" y="0"/>
            <a:chExt cx="1016067" cy="11398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16067" cy="1139804"/>
            </a:xfrm>
            <a:custGeom>
              <a:avLst/>
              <a:gdLst/>
              <a:ahLst/>
              <a:cxnLst/>
              <a:rect l="l" t="t" r="r" b="b"/>
              <a:pathLst>
                <a:path w="1016067" h="1139804">
                  <a:moveTo>
                    <a:pt x="38129" y="0"/>
                  </a:moveTo>
                  <a:lnTo>
                    <a:pt x="977938" y="0"/>
                  </a:lnTo>
                  <a:cubicBezTo>
                    <a:pt x="998996" y="0"/>
                    <a:pt x="1016067" y="17071"/>
                    <a:pt x="1016067" y="38129"/>
                  </a:cubicBezTo>
                  <a:lnTo>
                    <a:pt x="1016067" y="1101675"/>
                  </a:lnTo>
                  <a:cubicBezTo>
                    <a:pt x="1016067" y="1122733"/>
                    <a:pt x="998996" y="1139804"/>
                    <a:pt x="977938" y="1139804"/>
                  </a:cubicBezTo>
                  <a:lnTo>
                    <a:pt x="38129" y="1139804"/>
                  </a:lnTo>
                  <a:cubicBezTo>
                    <a:pt x="17071" y="1139804"/>
                    <a:pt x="0" y="1122733"/>
                    <a:pt x="0" y="1101675"/>
                  </a:cubicBezTo>
                  <a:lnTo>
                    <a:pt x="0" y="38129"/>
                  </a:lnTo>
                  <a:cubicBezTo>
                    <a:pt x="0" y="17071"/>
                    <a:pt x="17071" y="0"/>
                    <a:pt x="38129" y="0"/>
                  </a:cubicBezTo>
                  <a:close/>
                </a:path>
              </a:pathLst>
            </a:custGeom>
            <a:solidFill>
              <a:srgbClr val="DDECC7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016067" cy="1187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376225" y="3235425"/>
            <a:ext cx="3857880" cy="5234791"/>
            <a:chOff x="0" y="0"/>
            <a:chExt cx="1016067" cy="11398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6067" cy="1139804"/>
            </a:xfrm>
            <a:custGeom>
              <a:avLst/>
              <a:gdLst/>
              <a:ahLst/>
              <a:cxnLst/>
              <a:rect l="l" t="t" r="r" b="b"/>
              <a:pathLst>
                <a:path w="1016067" h="1139804">
                  <a:moveTo>
                    <a:pt x="38129" y="0"/>
                  </a:moveTo>
                  <a:lnTo>
                    <a:pt x="977938" y="0"/>
                  </a:lnTo>
                  <a:cubicBezTo>
                    <a:pt x="998996" y="0"/>
                    <a:pt x="1016067" y="17071"/>
                    <a:pt x="1016067" y="38129"/>
                  </a:cubicBezTo>
                  <a:lnTo>
                    <a:pt x="1016067" y="1101675"/>
                  </a:lnTo>
                  <a:cubicBezTo>
                    <a:pt x="1016067" y="1122733"/>
                    <a:pt x="998996" y="1139804"/>
                    <a:pt x="977938" y="1139804"/>
                  </a:cubicBezTo>
                  <a:lnTo>
                    <a:pt x="38129" y="1139804"/>
                  </a:lnTo>
                  <a:cubicBezTo>
                    <a:pt x="17071" y="1139804"/>
                    <a:pt x="0" y="1122733"/>
                    <a:pt x="0" y="1101675"/>
                  </a:cubicBezTo>
                  <a:lnTo>
                    <a:pt x="0" y="38129"/>
                  </a:lnTo>
                  <a:cubicBezTo>
                    <a:pt x="0" y="17071"/>
                    <a:pt x="17071" y="0"/>
                    <a:pt x="38129" y="0"/>
                  </a:cubicBezTo>
                  <a:close/>
                </a:path>
              </a:pathLst>
            </a:custGeom>
            <a:solidFill>
              <a:srgbClr val="DDECC7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016067" cy="1187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500937" y="3235425"/>
            <a:ext cx="3857880" cy="5234798"/>
            <a:chOff x="0" y="0"/>
            <a:chExt cx="1016067" cy="113980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16067" cy="1139804"/>
            </a:xfrm>
            <a:custGeom>
              <a:avLst/>
              <a:gdLst/>
              <a:ahLst/>
              <a:cxnLst/>
              <a:rect l="l" t="t" r="r" b="b"/>
              <a:pathLst>
                <a:path w="1016067" h="1139804">
                  <a:moveTo>
                    <a:pt x="38129" y="0"/>
                  </a:moveTo>
                  <a:lnTo>
                    <a:pt x="977938" y="0"/>
                  </a:lnTo>
                  <a:cubicBezTo>
                    <a:pt x="998996" y="0"/>
                    <a:pt x="1016067" y="17071"/>
                    <a:pt x="1016067" y="38129"/>
                  </a:cubicBezTo>
                  <a:lnTo>
                    <a:pt x="1016067" y="1101675"/>
                  </a:lnTo>
                  <a:cubicBezTo>
                    <a:pt x="1016067" y="1122733"/>
                    <a:pt x="998996" y="1139804"/>
                    <a:pt x="977938" y="1139804"/>
                  </a:cubicBezTo>
                  <a:lnTo>
                    <a:pt x="38129" y="1139804"/>
                  </a:lnTo>
                  <a:cubicBezTo>
                    <a:pt x="17071" y="1139804"/>
                    <a:pt x="0" y="1122733"/>
                    <a:pt x="0" y="1101675"/>
                  </a:cubicBezTo>
                  <a:lnTo>
                    <a:pt x="0" y="38129"/>
                  </a:lnTo>
                  <a:cubicBezTo>
                    <a:pt x="0" y="17071"/>
                    <a:pt x="17071" y="0"/>
                    <a:pt x="38129" y="0"/>
                  </a:cubicBezTo>
                  <a:close/>
                </a:path>
              </a:pathLst>
            </a:custGeom>
            <a:solidFill>
              <a:srgbClr val="DDECC7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016067" cy="1187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0" name="AutoShape 20"/>
          <p:cNvSpPr/>
          <p:nvPr/>
        </p:nvSpPr>
        <p:spPr>
          <a:xfrm>
            <a:off x="0" y="9210675"/>
            <a:ext cx="17259300" cy="0"/>
          </a:xfrm>
          <a:prstGeom prst="line">
            <a:avLst/>
          </a:prstGeom>
          <a:ln w="95250" cap="flat">
            <a:solidFill>
              <a:srgbClr val="DDECC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21" name="AutoShape 21"/>
          <p:cNvSpPr/>
          <p:nvPr/>
        </p:nvSpPr>
        <p:spPr>
          <a:xfrm>
            <a:off x="1028700" y="9504035"/>
            <a:ext cx="17259300" cy="0"/>
          </a:xfrm>
          <a:prstGeom prst="line">
            <a:avLst/>
          </a:prstGeom>
          <a:ln w="95250" cap="flat">
            <a:solidFill>
              <a:srgbClr val="DDECC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Box 22"/>
          <p:cNvSpPr txBox="1"/>
          <p:nvPr/>
        </p:nvSpPr>
        <p:spPr>
          <a:xfrm>
            <a:off x="1066025" y="1171575"/>
            <a:ext cx="16193275" cy="1055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9"/>
              </a:lnSpc>
            </a:pPr>
            <a:r>
              <a:rPr lang="en-US" sz="8000" b="1">
                <a:solidFill>
                  <a:srgbClr val="2D2D2D"/>
                </a:solidFill>
                <a:latin typeface="Montserrat Bold"/>
                <a:sym typeface="Montserrat Bold"/>
              </a:rPr>
              <a:t>Discussion and Improvements</a:t>
            </a:r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1557169" y="6463124"/>
            <a:ext cx="2997148" cy="1315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5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Hg19 as a reference genome instead of hg38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690635" y="6486932"/>
            <a:ext cx="2981050" cy="131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5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Updated reference genomes. </a:t>
            </a:r>
            <a:r>
              <a:rPr lang="en-US" sz="2450" err="1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eg</a:t>
            </a:r>
            <a:r>
              <a:rPr lang="en-US" sz="2450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 hg19 into hg38</a:t>
            </a:r>
            <a:endParaRPr lang="en-US" sz="2450">
              <a:solidFill>
                <a:srgbClr val="2D2D2D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489356" y="6459258"/>
            <a:ext cx="3631616" cy="8681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Retrieve full genome information using WGS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729404" y="6486932"/>
            <a:ext cx="3389030" cy="1317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2D2D2D"/>
                </a:solidFill>
                <a:latin typeface="Open Sans"/>
                <a:ea typeface="Open Sans"/>
                <a:cs typeface="Open Sans"/>
                <a:sym typeface="Open Sans"/>
              </a:rPr>
              <a:t>10% of guanine presenting reads at variant position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57169" y="5747527"/>
            <a:ext cx="2981050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00" b="1">
                <a:solidFill>
                  <a:srgbClr val="2D2D2D"/>
                </a:solidFill>
                <a:latin typeface="Aptos" panose="020B0004020202020204" pitchFamily="34" charset="0"/>
                <a:ea typeface="Open Sans Bold"/>
                <a:cs typeface="Open Sans Bold"/>
                <a:sym typeface="Open Sans Bold"/>
              </a:rPr>
              <a:t>Database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90635" y="5804431"/>
            <a:ext cx="2981050" cy="419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00" b="1">
                <a:solidFill>
                  <a:srgbClr val="2D2D2D"/>
                </a:solidFill>
                <a:latin typeface="Aptos" panose="020B0004020202020204" pitchFamily="34" charset="0"/>
                <a:ea typeface="+mn-lt"/>
                <a:cs typeface="+mn-lt"/>
                <a:sym typeface="Open Sans Bold"/>
              </a:rPr>
              <a:t>Reference Databases</a:t>
            </a:r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814639" y="5804431"/>
            <a:ext cx="2981050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00" b="1">
                <a:solidFill>
                  <a:srgbClr val="2D2D2D"/>
                </a:solidFill>
                <a:latin typeface="Aptos" panose="020B0004020202020204" pitchFamily="34" charset="0"/>
                <a:ea typeface="Open Sans Bold"/>
                <a:cs typeface="Open Sans Bold"/>
                <a:sym typeface="Open Sans Bold"/>
              </a:rPr>
              <a:t>WES analysis</a:t>
            </a:r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941554" y="5804431"/>
            <a:ext cx="2981050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00" b="1" dirty="0">
                <a:solidFill>
                  <a:srgbClr val="2D2D2D"/>
                </a:solidFill>
                <a:latin typeface="Aptos" panose="020B0004020202020204" pitchFamily="34" charset="0"/>
                <a:ea typeface="Open Sans Bold"/>
                <a:cs typeface="Open Sans Bold"/>
              </a:rPr>
              <a:t>Homozygosity</a:t>
            </a:r>
          </a:p>
        </p:txBody>
      </p:sp>
      <p:pic>
        <p:nvPicPr>
          <p:cNvPr id="19" name="Grafik 18" descr="DNA mit einfarbiger Füllung">
            <a:extLst>
              <a:ext uri="{FF2B5EF4-FFF2-40B4-BE49-F238E27FC236}">
                <a16:creationId xmlns:a16="http://schemas.microsoft.com/office/drawing/2014/main" id="{AE8620DD-A925-7E86-F5D3-E8EB334967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3772" y="4168230"/>
            <a:ext cx="1162784" cy="1162784"/>
          </a:xfrm>
          <a:prstGeom prst="rect">
            <a:avLst/>
          </a:prstGeom>
        </p:spPr>
      </p:pic>
      <p:pic>
        <p:nvPicPr>
          <p:cNvPr id="32" name="Grafik 31" descr="Ordnersuche mit einfarbiger Füllung">
            <a:extLst>
              <a:ext uri="{FF2B5EF4-FFF2-40B4-BE49-F238E27FC236}">
                <a16:creationId xmlns:a16="http://schemas.microsoft.com/office/drawing/2014/main" id="{44398E57-5ADF-70B5-67D6-82BEAA9D28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04109" y="4137743"/>
            <a:ext cx="1306093" cy="1306093"/>
          </a:xfrm>
          <a:prstGeom prst="rect">
            <a:avLst/>
          </a:prstGeom>
        </p:spPr>
      </p:pic>
      <p:pic>
        <p:nvPicPr>
          <p:cNvPr id="34" name="Grafik 33" descr="Fragezeichen mit einfarbiger Füllung">
            <a:extLst>
              <a:ext uri="{FF2B5EF4-FFF2-40B4-BE49-F238E27FC236}">
                <a16:creationId xmlns:a16="http://schemas.microsoft.com/office/drawing/2014/main" id="{F5AF259D-BE4F-DA76-CB18-D702287AAB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839172" y="4107012"/>
            <a:ext cx="1185813" cy="1185813"/>
          </a:xfrm>
          <a:prstGeom prst="rect">
            <a:avLst/>
          </a:prstGeom>
        </p:spPr>
      </p:pic>
      <p:pic>
        <p:nvPicPr>
          <p:cNvPr id="36" name="Grafik 35" descr="Ursache und Wirkung mit einfarbiger Füllung">
            <a:extLst>
              <a:ext uri="{FF2B5EF4-FFF2-40B4-BE49-F238E27FC236}">
                <a16:creationId xmlns:a16="http://schemas.microsoft.com/office/drawing/2014/main" id="{877D0EC3-EB77-182F-1F3A-DF52093EF4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99062" y="4107012"/>
            <a:ext cx="1162783" cy="11627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9CF3C-4374-117E-1469-4565DA490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5D3CBDD-F287-A6B5-1BAB-B59205E2F11B}"/>
              </a:ext>
            </a:extLst>
          </p:cNvPr>
          <p:cNvSpPr/>
          <p:nvPr/>
        </p:nvSpPr>
        <p:spPr>
          <a:xfrm>
            <a:off x="-222585" y="1792744"/>
            <a:ext cx="17259300" cy="0"/>
          </a:xfrm>
          <a:prstGeom prst="line">
            <a:avLst/>
          </a:prstGeom>
          <a:ln w="95250" cap="flat">
            <a:solidFill>
              <a:srgbClr val="DDECC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B2BE9CA-5079-C56F-5BA4-C729DBF7B2A2}"/>
              </a:ext>
            </a:extLst>
          </p:cNvPr>
          <p:cNvSpPr/>
          <p:nvPr/>
        </p:nvSpPr>
        <p:spPr>
          <a:xfrm>
            <a:off x="1028700" y="9762178"/>
            <a:ext cx="17259300" cy="0"/>
          </a:xfrm>
          <a:prstGeom prst="line">
            <a:avLst/>
          </a:prstGeom>
          <a:ln w="95250" cap="flat">
            <a:solidFill>
              <a:srgbClr val="DDECC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C6EB446-9B33-261D-05D3-02DF95E780BD}"/>
              </a:ext>
            </a:extLst>
          </p:cNvPr>
          <p:cNvSpPr txBox="1"/>
          <p:nvPr/>
        </p:nvSpPr>
        <p:spPr>
          <a:xfrm>
            <a:off x="1028699" y="737070"/>
            <a:ext cx="11648209" cy="1055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59"/>
              </a:lnSpc>
            </a:pPr>
            <a:r>
              <a:rPr lang="en-US" sz="8000" b="1" dirty="0">
                <a:solidFill>
                  <a:srgbClr val="2D2D2D"/>
                </a:solidFill>
                <a:latin typeface="Montserrat Bold"/>
                <a:sym typeface="Montserrat Bold"/>
              </a:rPr>
              <a:t>Outlook</a:t>
            </a:r>
            <a:endParaRPr lang="en-US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54779DC-A06E-190B-22FD-AF2F7DCC668E}"/>
              </a:ext>
            </a:extLst>
          </p:cNvPr>
          <p:cNvSpPr txBox="1"/>
          <p:nvPr/>
        </p:nvSpPr>
        <p:spPr>
          <a:xfrm>
            <a:off x="1215190" y="7744584"/>
            <a:ext cx="15521941" cy="1742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latin typeface="Aptos" panose="020B0004020202020204" pitchFamily="34" charset="0"/>
                <a:sym typeface="Wingdings" pitchFamily="2" charset="2"/>
              </a:rPr>
              <a:t>In patient derived and healthy fibroblasts: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à"/>
            </a:pPr>
            <a:r>
              <a:rPr lang="en-US" sz="2600" dirty="0">
                <a:latin typeface="Aptos" panose="020B0004020202020204" pitchFamily="34" charset="0"/>
                <a:sym typeface="Wingdings" pitchFamily="2" charset="2"/>
              </a:rPr>
              <a:t>Analysis of SNAP29 protein binding using immunoprecipitation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à"/>
            </a:pPr>
            <a:r>
              <a:rPr lang="en-US" sz="2600" dirty="0">
                <a:latin typeface="Aptos" panose="020B0004020202020204" pitchFamily="34" charset="0"/>
                <a:sym typeface="Wingdings" pitchFamily="2" charset="2"/>
              </a:rPr>
              <a:t>Functional analysis of autophagy (autophagic flux assay) </a:t>
            </a:r>
            <a:endParaRPr lang="en-US" sz="2600" dirty="0">
              <a:latin typeface="Aptos" panose="020B0004020202020204" pitchFamily="34" charset="0"/>
            </a:endParaRP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EBF8DC4A-6BA3-84B2-280D-8FA44681FA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" t="5184" r="59469" b="61837"/>
          <a:stretch>
            <a:fillRect/>
          </a:stretch>
        </p:blipFill>
        <p:spPr>
          <a:xfrm>
            <a:off x="1028699" y="1984503"/>
            <a:ext cx="5554000" cy="2644762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61302F10-AE44-6EE5-D12C-331060CA141E}"/>
              </a:ext>
            </a:extLst>
          </p:cNvPr>
          <p:cNvSpPr txBox="1"/>
          <p:nvPr/>
        </p:nvSpPr>
        <p:spPr>
          <a:xfrm>
            <a:off x="6582699" y="2655864"/>
            <a:ext cx="11175913" cy="1234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à"/>
            </a:pPr>
            <a:r>
              <a:rPr lang="de-DE" sz="2600" b="0" i="0" u="none" strike="noStrike" dirty="0" err="1">
                <a:solidFill>
                  <a:schemeClr val="tx1"/>
                </a:solidFill>
                <a:effectLst/>
                <a:latin typeface="Aptos" panose="020B0004020202020204" pitchFamily="34" charset="0"/>
                <a:sym typeface="Wingdings" pitchFamily="2" charset="2"/>
              </a:rPr>
              <a:t>Stained</a:t>
            </a:r>
            <a:r>
              <a:rPr lang="de-DE" sz="2600" b="0" i="0" u="none" strike="noStrike" dirty="0">
                <a:solidFill>
                  <a:schemeClr val="tx1"/>
                </a:solidFill>
                <a:effectLst/>
                <a:latin typeface="Aptos" panose="020B0004020202020204" pitchFamily="34" charset="0"/>
                <a:sym typeface="Wingdings" pitchFamily="2" charset="2"/>
              </a:rPr>
              <a:t> </a:t>
            </a:r>
            <a:r>
              <a:rPr lang="de-DE" sz="2600" b="0" i="0" u="none" strike="noStrike" dirty="0" err="1">
                <a:solidFill>
                  <a:schemeClr val="tx1"/>
                </a:solidFill>
                <a:effectLst/>
                <a:latin typeface="Aptos" panose="020B0004020202020204" pitchFamily="34" charset="0"/>
                <a:sym typeface="Wingdings" pitchFamily="2" charset="2"/>
              </a:rPr>
              <a:t>sections</a:t>
            </a:r>
            <a:r>
              <a:rPr lang="de-DE" sz="2600" b="0" i="0" u="none" strike="noStrike" dirty="0">
                <a:solidFill>
                  <a:schemeClr val="tx1"/>
                </a:solidFill>
                <a:effectLst/>
                <a:latin typeface="Aptos" panose="020B0004020202020204" pitchFamily="34" charset="0"/>
                <a:sym typeface="Wingdings" pitchFamily="2" charset="2"/>
              </a:rPr>
              <a:t> of </a:t>
            </a:r>
            <a:r>
              <a:rPr lang="de-DE" sz="2600" b="0" i="0" u="none" strike="noStrike" dirty="0" err="1">
                <a:solidFill>
                  <a:schemeClr val="tx1"/>
                </a:solidFill>
                <a:effectLst/>
                <a:latin typeface="Aptos" panose="020B0004020202020204" pitchFamily="34" charset="0"/>
                <a:sym typeface="Wingdings" pitchFamily="2" charset="2"/>
              </a:rPr>
              <a:t>zebrafish</a:t>
            </a:r>
            <a:r>
              <a:rPr lang="de-DE" sz="2600" b="0" i="0" u="none" strike="noStrike" dirty="0">
                <a:solidFill>
                  <a:schemeClr val="tx1"/>
                </a:solidFill>
                <a:effectLst/>
                <a:latin typeface="Aptos" panose="020B0004020202020204" pitchFamily="34" charset="0"/>
                <a:sym typeface="Wingdings" pitchFamily="2" charset="2"/>
              </a:rPr>
              <a:t> </a:t>
            </a:r>
            <a:r>
              <a:rPr lang="de-DE" sz="2600" b="0" i="0" u="none" strike="noStrike" dirty="0" err="1">
                <a:solidFill>
                  <a:schemeClr val="tx1"/>
                </a:solidFill>
                <a:effectLst/>
                <a:latin typeface="Aptos" panose="020B0004020202020204" pitchFamily="34" charset="0"/>
                <a:sym typeface="Wingdings" pitchFamily="2" charset="2"/>
              </a:rPr>
              <a:t>larvae</a:t>
            </a:r>
            <a:endParaRPr lang="de-DE" sz="2600" b="0" i="0" u="none" strike="noStrike" dirty="0">
              <a:solidFill>
                <a:schemeClr val="tx1"/>
              </a:solidFill>
              <a:effectLst/>
              <a:latin typeface="Aptos" panose="020B0004020202020204" pitchFamily="34" charset="0"/>
              <a:sym typeface="Wingdings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à"/>
            </a:pPr>
            <a:r>
              <a:rPr lang="de-DE" sz="2600" dirty="0" err="1">
                <a:latin typeface="Aptos" panose="020B0004020202020204" pitchFamily="34" charset="0"/>
                <a:sym typeface="Wingdings" pitchFamily="2" charset="2"/>
              </a:rPr>
              <a:t>Reduction</a:t>
            </a:r>
            <a:r>
              <a:rPr lang="de-DE" sz="2600" dirty="0">
                <a:latin typeface="Aptos" panose="020B0004020202020204" pitchFamily="34" charset="0"/>
                <a:sym typeface="Wingdings" pitchFamily="2" charset="2"/>
              </a:rPr>
              <a:t> in </a:t>
            </a:r>
            <a:r>
              <a:rPr lang="de-DE" sz="2600" dirty="0" err="1">
                <a:latin typeface="Aptos" panose="020B0004020202020204" pitchFamily="34" charset="0"/>
                <a:sym typeface="Wingdings" pitchFamily="2" charset="2"/>
              </a:rPr>
              <a:t>size</a:t>
            </a:r>
            <a:r>
              <a:rPr lang="de-DE" sz="2600" dirty="0">
                <a:latin typeface="Aptos" panose="020B0004020202020204" pitchFamily="34" charset="0"/>
                <a:sym typeface="Wingdings" pitchFamily="2" charset="2"/>
              </a:rPr>
              <a:t> of the </a:t>
            </a:r>
            <a:r>
              <a:rPr lang="de-DE" sz="2600" dirty="0" err="1">
                <a:latin typeface="Aptos" panose="020B0004020202020204" pitchFamily="34" charset="0"/>
                <a:sym typeface="Wingdings" pitchFamily="2" charset="2"/>
              </a:rPr>
              <a:t>head</a:t>
            </a:r>
            <a:r>
              <a:rPr lang="de-DE" sz="2600" dirty="0">
                <a:latin typeface="Aptos" panose="020B0004020202020204" pitchFamily="34" charset="0"/>
                <a:sym typeface="Wingdings" pitchFamily="2" charset="2"/>
              </a:rPr>
              <a:t> in </a:t>
            </a:r>
            <a:r>
              <a:rPr lang="de-DE" sz="2600" i="1" dirty="0">
                <a:latin typeface="Aptos" panose="020B0004020202020204" pitchFamily="34" charset="0"/>
              </a:rPr>
              <a:t>snap29</a:t>
            </a:r>
            <a:r>
              <a:rPr lang="de-DE" sz="2600" i="1" baseline="30000" dirty="0">
                <a:latin typeface="Aptos" panose="020B0004020202020204" pitchFamily="34" charset="0"/>
              </a:rPr>
              <a:t>K164*</a:t>
            </a:r>
            <a:r>
              <a:rPr lang="de-DE" sz="2600" dirty="0">
                <a:latin typeface="Aptos" panose="020B0004020202020204" pitchFamily="34" charset="0"/>
              </a:rPr>
              <a:t> </a:t>
            </a:r>
            <a:r>
              <a:rPr lang="de-DE" sz="2600" dirty="0" err="1">
                <a:latin typeface="Aptos" panose="020B0004020202020204" pitchFamily="34" charset="0"/>
              </a:rPr>
              <a:t>mutant</a:t>
            </a:r>
            <a:r>
              <a:rPr lang="de-DE" sz="2600" dirty="0">
                <a:latin typeface="Aptos" panose="020B0004020202020204" pitchFamily="34" charset="0"/>
              </a:rPr>
              <a:t> </a:t>
            </a:r>
            <a:r>
              <a:rPr lang="de-DE" sz="2600" dirty="0" err="1">
                <a:latin typeface="Aptos" panose="020B0004020202020204" pitchFamily="34" charset="0"/>
              </a:rPr>
              <a:t>animals</a:t>
            </a:r>
            <a:endParaRPr lang="de-DE" sz="2600" b="0" i="0" u="none" strike="noStrike" dirty="0"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A840890C-B360-B5BB-3685-3B300B203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980" b="53725"/>
          <a:stretch>
            <a:fillRect/>
          </a:stretch>
        </p:blipFill>
        <p:spPr>
          <a:xfrm>
            <a:off x="1215190" y="4848005"/>
            <a:ext cx="6221997" cy="2914984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D2767504-D7CA-AE10-3A5D-629CB554EE0F}"/>
              </a:ext>
            </a:extLst>
          </p:cNvPr>
          <p:cNvSpPr txBox="1"/>
          <p:nvPr/>
        </p:nvSpPr>
        <p:spPr>
          <a:xfrm>
            <a:off x="7437187" y="5034494"/>
            <a:ext cx="10543295" cy="2435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à"/>
            </a:pPr>
            <a:r>
              <a:rPr lang="de-DE" sz="2600" dirty="0">
                <a:latin typeface="Aptos" panose="020B0004020202020204" pitchFamily="34" charset="0"/>
              </a:rPr>
              <a:t>Analysis of </a:t>
            </a:r>
            <a:r>
              <a:rPr lang="de-DE" sz="2600" dirty="0" err="1">
                <a:latin typeface="Aptos" panose="020B0004020202020204" pitchFamily="34" charset="0"/>
              </a:rPr>
              <a:t>integrin</a:t>
            </a:r>
            <a:r>
              <a:rPr lang="de-DE" sz="2600" dirty="0">
                <a:latin typeface="Aptos" panose="020B0004020202020204" pitchFamily="34" charset="0"/>
              </a:rPr>
              <a:t> </a:t>
            </a:r>
            <a:r>
              <a:rPr lang="de-DE" sz="2600" dirty="0" err="1">
                <a:latin typeface="Aptos" panose="020B0004020202020204" pitchFamily="34" charset="0"/>
              </a:rPr>
              <a:t>recycling</a:t>
            </a:r>
            <a:endParaRPr lang="de-DE" sz="2600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à"/>
            </a:pPr>
            <a:r>
              <a:rPr lang="de-DE" sz="2600" dirty="0">
                <a:latin typeface="Aptos" panose="020B0004020202020204" pitchFamily="34" charset="0"/>
              </a:rPr>
              <a:t>Role of </a:t>
            </a:r>
            <a:r>
              <a:rPr lang="de-DE" sz="2600" dirty="0" err="1">
                <a:latin typeface="Aptos" panose="020B0004020202020204" pitchFamily="34" charset="0"/>
              </a:rPr>
              <a:t>integrins</a:t>
            </a:r>
            <a:r>
              <a:rPr lang="de-DE" sz="2600" dirty="0">
                <a:latin typeface="Aptos" panose="020B0004020202020204" pitchFamily="34" charset="0"/>
              </a:rPr>
              <a:t> in </a:t>
            </a:r>
            <a:r>
              <a:rPr lang="de-DE" sz="2600" dirty="0" err="1">
                <a:latin typeface="Aptos" panose="020B0004020202020204" pitchFamily="34" charset="0"/>
              </a:rPr>
              <a:t>cell</a:t>
            </a:r>
            <a:r>
              <a:rPr lang="de-DE" sz="2600" dirty="0">
                <a:latin typeface="Aptos" panose="020B0004020202020204" pitchFamily="34" charset="0"/>
              </a:rPr>
              <a:t> </a:t>
            </a:r>
            <a:r>
              <a:rPr lang="de-DE" sz="2600" dirty="0" err="1">
                <a:latin typeface="Aptos" panose="020B0004020202020204" pitchFamily="34" charset="0"/>
              </a:rPr>
              <a:t>migration</a:t>
            </a:r>
            <a:r>
              <a:rPr lang="de-DE" sz="2600" dirty="0">
                <a:latin typeface="Aptos" panose="020B0004020202020204" pitchFamily="34" charset="0"/>
              </a:rPr>
              <a:t> </a:t>
            </a:r>
            <a:r>
              <a:rPr lang="de-DE" sz="2600" dirty="0" err="1">
                <a:latin typeface="Aptos" panose="020B0004020202020204" pitchFamily="34" charset="0"/>
              </a:rPr>
              <a:t>is</a:t>
            </a:r>
            <a:r>
              <a:rPr lang="de-DE" sz="2600" dirty="0">
                <a:latin typeface="Aptos" panose="020B0004020202020204" pitchFamily="34" charset="0"/>
              </a:rPr>
              <a:t> essential for epidermal </a:t>
            </a:r>
            <a:r>
              <a:rPr lang="de-DE" sz="2600" dirty="0" err="1">
                <a:latin typeface="Aptos" panose="020B0004020202020204" pitchFamily="34" charset="0"/>
              </a:rPr>
              <a:t>differentiation</a:t>
            </a:r>
            <a:r>
              <a:rPr lang="de-DE" sz="2600" dirty="0">
                <a:latin typeface="Aptos" panose="020B0004020202020204" pitchFamily="34" charset="0"/>
              </a:rPr>
              <a:t> and </a:t>
            </a:r>
            <a:r>
              <a:rPr lang="de-DE" sz="2600" dirty="0" err="1">
                <a:latin typeface="Aptos" panose="020B0004020202020204" pitchFamily="34" charset="0"/>
              </a:rPr>
              <a:t>brain</a:t>
            </a:r>
            <a:r>
              <a:rPr lang="de-DE" sz="2600" dirty="0">
                <a:latin typeface="Aptos" panose="020B0004020202020204" pitchFamily="34" charset="0"/>
              </a:rPr>
              <a:t> </a:t>
            </a:r>
            <a:r>
              <a:rPr lang="de-DE" sz="2600" dirty="0" err="1">
                <a:latin typeface="Aptos" panose="020B0004020202020204" pitchFamily="34" charset="0"/>
              </a:rPr>
              <a:t>development</a:t>
            </a:r>
            <a:endParaRPr lang="de-DE" sz="2600" dirty="0">
              <a:latin typeface="Aptos" panose="020B00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à"/>
            </a:pPr>
            <a:r>
              <a:rPr lang="de-DE" sz="2600" dirty="0" err="1">
                <a:latin typeface="Aptos" panose="020B0004020202020204" pitchFamily="34" charset="0"/>
              </a:rPr>
              <a:t>Accumulation</a:t>
            </a:r>
            <a:r>
              <a:rPr lang="de-DE" sz="2600" dirty="0">
                <a:latin typeface="Aptos" panose="020B0004020202020204" pitchFamily="34" charset="0"/>
              </a:rPr>
              <a:t> of </a:t>
            </a:r>
            <a:r>
              <a:rPr lang="el-GR" sz="2600" dirty="0">
                <a:latin typeface="Aptos" panose="020B0004020202020204" pitchFamily="34" charset="0"/>
              </a:rPr>
              <a:t>β</a:t>
            </a:r>
            <a:r>
              <a:rPr lang="de-DE" sz="2600" dirty="0">
                <a:latin typeface="Aptos" panose="020B0004020202020204" pitchFamily="34" charset="0"/>
              </a:rPr>
              <a:t>-integrin in CEDNIK </a:t>
            </a:r>
            <a:r>
              <a:rPr lang="de-DE" sz="2600" dirty="0" err="1">
                <a:latin typeface="Aptos" panose="020B0004020202020204" pitchFamily="34" charset="0"/>
              </a:rPr>
              <a:t>cells</a:t>
            </a:r>
            <a:endParaRPr lang="de-DE" sz="2600" b="0" i="0" u="none" strike="noStrike" dirty="0"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</p:txBody>
      </p:sp>
      <p:cxnSp>
        <p:nvCxnSpPr>
          <p:cNvPr id="24" name="Gerade Verbindung 23">
            <a:extLst>
              <a:ext uri="{FF2B5EF4-FFF2-40B4-BE49-F238E27FC236}">
                <a16:creationId xmlns:a16="http://schemas.microsoft.com/office/drawing/2014/main" id="{B84243F7-8CC7-D08B-8E54-A11D6061CAD4}"/>
              </a:ext>
            </a:extLst>
          </p:cNvPr>
          <p:cNvCxnSpPr/>
          <p:nvPr/>
        </p:nvCxnSpPr>
        <p:spPr>
          <a:xfrm>
            <a:off x="-222585" y="4682739"/>
            <a:ext cx="2240881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Gerade Verbindung 24">
            <a:extLst>
              <a:ext uri="{FF2B5EF4-FFF2-40B4-BE49-F238E27FC236}">
                <a16:creationId xmlns:a16="http://schemas.microsoft.com/office/drawing/2014/main" id="{895C806C-3176-C610-A648-C5E6B4D5693A}"/>
              </a:ext>
            </a:extLst>
          </p:cNvPr>
          <p:cNvCxnSpPr/>
          <p:nvPr/>
        </p:nvCxnSpPr>
        <p:spPr>
          <a:xfrm>
            <a:off x="-701844" y="7762989"/>
            <a:ext cx="2240881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7C80639A-0540-48E9-502C-F7CF27051562}"/>
              </a:ext>
            </a:extLst>
          </p:cNvPr>
          <p:cNvSpPr txBox="1"/>
          <p:nvPr/>
        </p:nvSpPr>
        <p:spPr>
          <a:xfrm>
            <a:off x="4326188" y="4445229"/>
            <a:ext cx="11455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i="1" dirty="0">
                <a:latin typeface="Aptos"/>
              </a:rPr>
              <a:t>Mastrodonato et al, 2019 </a:t>
            </a:r>
            <a:endParaRPr lang="de-DE" sz="1400" i="1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4E427EAB-589E-A2ED-4777-ED12881FA2F6}"/>
              </a:ext>
            </a:extLst>
          </p:cNvPr>
          <p:cNvSpPr txBox="1"/>
          <p:nvPr/>
        </p:nvSpPr>
        <p:spPr>
          <a:xfrm>
            <a:off x="5611638" y="7502376"/>
            <a:ext cx="114611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i="1" dirty="0">
                <a:latin typeface="Aptos"/>
              </a:rPr>
              <a:t>Rapaport et al, 2010</a:t>
            </a:r>
            <a:endParaRPr lang="de-DE" sz="1400" i="1" dirty="0"/>
          </a:p>
        </p:txBody>
      </p:sp>
    </p:spTree>
    <p:extLst>
      <p:ext uri="{BB962C8B-B14F-4D97-AF65-F5344CB8AC3E}">
        <p14:creationId xmlns:p14="http://schemas.microsoft.com/office/powerpoint/2010/main" val="288310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7F85D920-5C52-37F4-B405-13281531C700}"/>
              </a:ext>
            </a:extLst>
          </p:cNvPr>
          <p:cNvSpPr/>
          <p:nvPr/>
        </p:nvSpPr>
        <p:spPr>
          <a:xfrm>
            <a:off x="-204949" y="-331076"/>
            <a:ext cx="18855559" cy="2756010"/>
          </a:xfrm>
          <a:prstGeom prst="rect">
            <a:avLst/>
          </a:prstGeom>
          <a:solidFill>
            <a:srgbClr val="DEECC7"/>
          </a:solidFill>
          <a:ln w="19050">
            <a:solidFill>
              <a:srgbClr val="298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Box 24"/>
          <p:cNvSpPr txBox="1"/>
          <p:nvPr/>
        </p:nvSpPr>
        <p:spPr>
          <a:xfrm>
            <a:off x="1028700" y="1171575"/>
            <a:ext cx="10955103" cy="106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000" b="1">
                <a:solidFill>
                  <a:srgbClr val="2D2D2D"/>
                </a:solidFill>
                <a:latin typeface="Montserrat Bold"/>
                <a:sym typeface="Montserrat Bold"/>
              </a:rPr>
              <a:t>References</a:t>
            </a:r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58B99FD-2EB1-5595-377C-62B262EC6C5F}"/>
              </a:ext>
            </a:extLst>
          </p:cNvPr>
          <p:cNvSpPr txBox="1"/>
          <p:nvPr/>
        </p:nvSpPr>
        <p:spPr>
          <a:xfrm>
            <a:off x="419100" y="2585419"/>
            <a:ext cx="17868053" cy="75713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dirty="0">
                <a:latin typeface="Calibri"/>
                <a:ea typeface="Calibri"/>
                <a:cs typeface="Calibri"/>
              </a:rPr>
              <a:t>General Information:</a:t>
            </a:r>
          </a:p>
          <a:p>
            <a:pPr marL="342900" indent="-342900">
              <a:buAutoNum type="arabicPeriod"/>
            </a:pPr>
            <a:r>
              <a:rPr lang="de-DE" dirty="0">
                <a:latin typeface="Calibri"/>
                <a:ea typeface="Calibri"/>
                <a:cs typeface="Calibri"/>
              </a:rPr>
              <a:t>M</a:t>
            </a:r>
            <a:r>
              <a:rPr lang="de-DE" dirty="0">
                <a:ea typeface="+mn-lt"/>
                <a:cs typeface="+mn-lt"/>
              </a:rPr>
              <a:t>. Corpas </a:t>
            </a:r>
            <a:r>
              <a:rPr lang="de-DE" i="1" dirty="0">
                <a:ea typeface="+mn-lt"/>
                <a:cs typeface="+mn-lt"/>
              </a:rPr>
              <a:t>et al.</a:t>
            </a:r>
            <a:r>
              <a:rPr lang="de-DE" dirty="0">
                <a:ea typeface="+mn-lt"/>
                <a:cs typeface="+mn-lt"/>
              </a:rPr>
              <a:t>, "</a:t>
            </a:r>
            <a:r>
              <a:rPr lang="de-DE" dirty="0" err="1">
                <a:ea typeface="+mn-lt"/>
                <a:cs typeface="+mn-lt"/>
              </a:rPr>
              <a:t>Crowdsourced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direct</a:t>
            </a:r>
            <a:r>
              <a:rPr lang="de-DE" dirty="0">
                <a:ea typeface="+mn-lt"/>
                <a:cs typeface="+mn-lt"/>
              </a:rPr>
              <a:t>-to-</a:t>
            </a:r>
            <a:r>
              <a:rPr lang="de-DE" dirty="0" err="1">
                <a:ea typeface="+mn-lt"/>
                <a:cs typeface="+mn-lt"/>
              </a:rPr>
              <a:t>consumer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genomic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analysis</a:t>
            </a:r>
            <a:r>
              <a:rPr lang="de-DE" dirty="0">
                <a:ea typeface="+mn-lt"/>
                <a:cs typeface="+mn-lt"/>
              </a:rPr>
              <a:t> of a </a:t>
            </a:r>
            <a:r>
              <a:rPr lang="de-DE" dirty="0" err="1">
                <a:ea typeface="+mn-lt"/>
                <a:cs typeface="+mn-lt"/>
              </a:rPr>
              <a:t>family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quartet</a:t>
            </a:r>
            <a:r>
              <a:rPr lang="de-DE" dirty="0">
                <a:ea typeface="+mn-lt"/>
                <a:cs typeface="+mn-lt"/>
              </a:rPr>
              <a:t>," </a:t>
            </a:r>
            <a:r>
              <a:rPr lang="de-DE" i="1" dirty="0">
                <a:ea typeface="+mn-lt"/>
                <a:cs typeface="+mn-lt"/>
              </a:rPr>
              <a:t>BMC </a:t>
            </a:r>
            <a:r>
              <a:rPr lang="de-DE" i="1" dirty="0" err="1">
                <a:ea typeface="+mn-lt"/>
                <a:cs typeface="+mn-lt"/>
              </a:rPr>
              <a:t>Genomics</a:t>
            </a:r>
            <a:r>
              <a:rPr lang="de-DE" dirty="0">
                <a:ea typeface="+mn-lt"/>
                <a:cs typeface="+mn-lt"/>
              </a:rPr>
              <a:t>, vol. 16, p. 910, Nov. 2015, </a:t>
            </a:r>
            <a:r>
              <a:rPr lang="de-DE" dirty="0" err="1">
                <a:ea typeface="+mn-lt"/>
                <a:cs typeface="+mn-lt"/>
              </a:rPr>
              <a:t>doi</a:t>
            </a:r>
            <a:r>
              <a:rPr lang="de-DE" dirty="0">
                <a:ea typeface="+mn-lt"/>
                <a:cs typeface="+mn-lt"/>
              </a:rPr>
              <a:t>: 10.1186/s12864-015-1973-7.</a:t>
            </a:r>
            <a:endParaRPr lang="de-DE" dirty="0">
              <a:latin typeface="Aptos" panose="020B0004020202020204" pitchFamily="34" charset="0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de-DE" dirty="0">
                <a:ea typeface="+mn-lt"/>
                <a:cs typeface="+mn-lt"/>
              </a:rPr>
              <a:t>X. Liu, C. Wu, C. Li, and E. </a:t>
            </a:r>
            <a:r>
              <a:rPr lang="de-DE" dirty="0" err="1">
                <a:ea typeface="+mn-lt"/>
                <a:cs typeface="+mn-lt"/>
              </a:rPr>
              <a:t>Boerwinkle</a:t>
            </a:r>
            <a:r>
              <a:rPr lang="de-DE" dirty="0">
                <a:ea typeface="+mn-lt"/>
                <a:cs typeface="+mn-lt"/>
              </a:rPr>
              <a:t>, "</a:t>
            </a:r>
            <a:r>
              <a:rPr lang="de-DE" dirty="0" err="1">
                <a:ea typeface="+mn-lt"/>
                <a:cs typeface="+mn-lt"/>
              </a:rPr>
              <a:t>dbNSFP</a:t>
            </a:r>
            <a:r>
              <a:rPr lang="de-DE" dirty="0">
                <a:ea typeface="+mn-lt"/>
                <a:cs typeface="+mn-lt"/>
              </a:rPr>
              <a:t> v3.0: A </a:t>
            </a:r>
            <a:r>
              <a:rPr lang="de-DE" dirty="0" err="1">
                <a:ea typeface="+mn-lt"/>
                <a:cs typeface="+mn-lt"/>
              </a:rPr>
              <a:t>One-Stop</a:t>
            </a:r>
            <a:r>
              <a:rPr lang="de-DE" dirty="0">
                <a:ea typeface="+mn-lt"/>
                <a:cs typeface="+mn-lt"/>
              </a:rPr>
              <a:t> Database of Functional </a:t>
            </a:r>
            <a:r>
              <a:rPr lang="de-DE" dirty="0" err="1">
                <a:ea typeface="+mn-lt"/>
                <a:cs typeface="+mn-lt"/>
              </a:rPr>
              <a:t>Predictions</a:t>
            </a:r>
            <a:r>
              <a:rPr lang="de-DE" dirty="0">
                <a:ea typeface="+mn-lt"/>
                <a:cs typeface="+mn-lt"/>
              </a:rPr>
              <a:t> and </a:t>
            </a:r>
            <a:r>
              <a:rPr lang="de-DE" dirty="0" err="1">
                <a:ea typeface="+mn-lt"/>
                <a:cs typeface="+mn-lt"/>
              </a:rPr>
              <a:t>Annotations</a:t>
            </a:r>
            <a:r>
              <a:rPr lang="de-DE" dirty="0">
                <a:ea typeface="+mn-lt"/>
                <a:cs typeface="+mn-lt"/>
              </a:rPr>
              <a:t> for Human Non-</a:t>
            </a:r>
            <a:r>
              <a:rPr lang="de-DE" dirty="0" err="1">
                <a:ea typeface="+mn-lt"/>
                <a:cs typeface="+mn-lt"/>
              </a:rPr>
              <a:t>synonymous</a:t>
            </a:r>
            <a:r>
              <a:rPr lang="de-DE" dirty="0">
                <a:ea typeface="+mn-lt"/>
                <a:cs typeface="+mn-lt"/>
              </a:rPr>
              <a:t> and </a:t>
            </a:r>
            <a:r>
              <a:rPr lang="de-DE" dirty="0" err="1">
                <a:ea typeface="+mn-lt"/>
                <a:cs typeface="+mn-lt"/>
              </a:rPr>
              <a:t>Splice</a:t>
            </a:r>
            <a:r>
              <a:rPr lang="de-DE" dirty="0">
                <a:ea typeface="+mn-lt"/>
                <a:cs typeface="+mn-lt"/>
              </a:rPr>
              <a:t> Site SNVs," </a:t>
            </a:r>
            <a:r>
              <a:rPr lang="de-DE" i="1" dirty="0">
                <a:ea typeface="+mn-lt"/>
                <a:cs typeface="+mn-lt"/>
              </a:rPr>
              <a:t>Human Mutation</a:t>
            </a:r>
            <a:r>
              <a:rPr lang="de-DE" dirty="0">
                <a:ea typeface="+mn-lt"/>
                <a:cs typeface="+mn-lt"/>
              </a:rPr>
              <a:t>, vol. 37, </a:t>
            </a:r>
            <a:r>
              <a:rPr lang="de-DE" dirty="0" err="1">
                <a:ea typeface="+mn-lt"/>
                <a:cs typeface="+mn-lt"/>
              </a:rPr>
              <a:t>no</a:t>
            </a:r>
            <a:r>
              <a:rPr lang="de-DE" dirty="0">
                <a:ea typeface="+mn-lt"/>
                <a:cs typeface="+mn-lt"/>
              </a:rPr>
              <a:t>. 3, pp. 235–241, Mar. 2016, </a:t>
            </a:r>
            <a:r>
              <a:rPr lang="de-DE" dirty="0" err="1">
                <a:ea typeface="+mn-lt"/>
                <a:cs typeface="+mn-lt"/>
              </a:rPr>
              <a:t>doi</a:t>
            </a:r>
            <a:r>
              <a:rPr lang="de-DE" dirty="0">
                <a:ea typeface="+mn-lt"/>
                <a:cs typeface="+mn-lt"/>
              </a:rPr>
              <a:t>: 10.1002/humu.22932.</a:t>
            </a:r>
            <a:endParaRPr lang="de-DE" dirty="0"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de-DE" dirty="0">
                <a:latin typeface="Aptos"/>
              </a:rPr>
              <a:t>Cerami, Ethan, </a:t>
            </a:r>
            <a:r>
              <a:rPr lang="de-DE" dirty="0" err="1">
                <a:latin typeface="Aptos"/>
              </a:rPr>
              <a:t>Jianjiong</a:t>
            </a:r>
            <a:r>
              <a:rPr lang="de-DE" dirty="0">
                <a:latin typeface="Aptos"/>
              </a:rPr>
              <a:t> Gao, Ugur </a:t>
            </a:r>
            <a:r>
              <a:rPr lang="de-DE" dirty="0" err="1">
                <a:latin typeface="Aptos"/>
              </a:rPr>
              <a:t>Dogrusoz</a:t>
            </a:r>
            <a:r>
              <a:rPr lang="de-DE" dirty="0">
                <a:latin typeface="Aptos"/>
              </a:rPr>
              <a:t>, et al. 2012. ‘The </a:t>
            </a:r>
            <a:r>
              <a:rPr lang="de-DE" dirty="0" err="1">
                <a:latin typeface="Aptos"/>
              </a:rPr>
              <a:t>cBio</a:t>
            </a:r>
            <a:r>
              <a:rPr lang="de-DE" dirty="0">
                <a:latin typeface="Aptos"/>
              </a:rPr>
              <a:t> Cancer </a:t>
            </a:r>
            <a:r>
              <a:rPr lang="de-DE" dirty="0" err="1">
                <a:latin typeface="Aptos"/>
              </a:rPr>
              <a:t>Genomics</a:t>
            </a:r>
            <a:r>
              <a:rPr lang="de-DE" dirty="0">
                <a:latin typeface="Aptos"/>
              </a:rPr>
              <a:t> Portal: An Open </a:t>
            </a:r>
            <a:r>
              <a:rPr lang="de-DE" dirty="0" err="1">
                <a:latin typeface="Aptos"/>
              </a:rPr>
              <a:t>Platform</a:t>
            </a:r>
            <a:r>
              <a:rPr lang="de-DE" dirty="0">
                <a:latin typeface="Aptos"/>
              </a:rPr>
              <a:t> for </a:t>
            </a:r>
            <a:r>
              <a:rPr lang="de-DE" dirty="0" err="1">
                <a:latin typeface="Aptos"/>
              </a:rPr>
              <a:t>Exploring</a:t>
            </a:r>
            <a:r>
              <a:rPr lang="de-DE" dirty="0">
                <a:latin typeface="Aptos"/>
              </a:rPr>
              <a:t> Multidimensional Cancer </a:t>
            </a:r>
            <a:r>
              <a:rPr lang="de-DE" dirty="0" err="1">
                <a:latin typeface="Aptos"/>
              </a:rPr>
              <a:t>Genomics</a:t>
            </a:r>
            <a:r>
              <a:rPr lang="de-DE" dirty="0">
                <a:latin typeface="Aptos"/>
              </a:rPr>
              <a:t> Data’. </a:t>
            </a:r>
            <a:r>
              <a:rPr lang="de-DE" i="1" dirty="0">
                <a:latin typeface="Aptos"/>
              </a:rPr>
              <a:t>Cancer Discovery</a:t>
            </a:r>
            <a:r>
              <a:rPr lang="de-DE" dirty="0">
                <a:latin typeface="Aptos"/>
              </a:rPr>
              <a:t> 2 (5): 401–4. </a:t>
            </a:r>
            <a:r>
              <a:rPr lang="de-DE" dirty="0">
                <a:latin typeface="Apto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https://doi.org/10.1158/2159-8290.CD-12-0095</a:t>
            </a:r>
            <a:r>
              <a:rPr lang="de-DE" dirty="0">
                <a:latin typeface="Aptos"/>
              </a:rPr>
              <a:t>.</a:t>
            </a:r>
            <a:endParaRPr lang="en-US" dirty="0">
              <a:latin typeface="Aptos" panose="020B0004020202020204" pitchFamily="34" charset="0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latin typeface="Aptos"/>
              </a:rPr>
              <a:t>De </a:t>
            </a:r>
            <a:r>
              <a:rPr lang="de-DE" dirty="0" err="1">
                <a:latin typeface="Aptos"/>
              </a:rPr>
              <a:t>Bruijn</a:t>
            </a:r>
            <a:r>
              <a:rPr lang="de-DE" dirty="0">
                <a:latin typeface="Aptos"/>
              </a:rPr>
              <a:t>, Ino, Ritika Kundra, Brooke Mastrogiacomo, et al. 2023. ‘Analysis and </a:t>
            </a:r>
            <a:r>
              <a:rPr lang="de-DE" dirty="0" err="1">
                <a:latin typeface="Aptos"/>
              </a:rPr>
              <a:t>Visualization</a:t>
            </a:r>
            <a:r>
              <a:rPr lang="de-DE" dirty="0">
                <a:latin typeface="Aptos"/>
              </a:rPr>
              <a:t> of Longitudinal </a:t>
            </a:r>
            <a:r>
              <a:rPr lang="de-DE" dirty="0" err="1">
                <a:latin typeface="Aptos"/>
              </a:rPr>
              <a:t>Genomic</a:t>
            </a:r>
            <a:r>
              <a:rPr lang="de-DE" dirty="0">
                <a:latin typeface="Aptos"/>
              </a:rPr>
              <a:t> and Clinical Data </a:t>
            </a:r>
            <a:r>
              <a:rPr lang="de-DE" dirty="0" err="1">
                <a:latin typeface="Aptos"/>
              </a:rPr>
              <a:t>from</a:t>
            </a:r>
            <a:r>
              <a:rPr lang="de-DE" dirty="0">
                <a:latin typeface="Aptos"/>
              </a:rPr>
              <a:t> the AACR Project GENIE Biopharma Collaborative in </a:t>
            </a:r>
            <a:r>
              <a:rPr lang="de-DE" dirty="0" err="1">
                <a:latin typeface="Aptos"/>
              </a:rPr>
              <a:t>cBioPortal</a:t>
            </a:r>
            <a:r>
              <a:rPr lang="de-DE" dirty="0">
                <a:latin typeface="Aptos"/>
              </a:rPr>
              <a:t>’. </a:t>
            </a:r>
            <a:r>
              <a:rPr lang="de-DE" i="1" dirty="0">
                <a:latin typeface="Aptos"/>
              </a:rPr>
              <a:t>Cancer Research</a:t>
            </a:r>
            <a:r>
              <a:rPr lang="de-DE" dirty="0">
                <a:latin typeface="Aptos"/>
              </a:rPr>
              <a:t> 83 (23): 3861–67. </a:t>
            </a:r>
            <a:r>
              <a:rPr lang="de-DE" dirty="0">
                <a:latin typeface="Apto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https://doi.org/10.1158/0008-5472.CAN-23-0816</a:t>
            </a:r>
            <a:r>
              <a:rPr lang="de-DE" dirty="0">
                <a:latin typeface="Aptos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>
                <a:latin typeface="Aptos"/>
              </a:rPr>
              <a:t>Dingjan</a:t>
            </a:r>
            <a:r>
              <a:rPr lang="de-DE" dirty="0">
                <a:latin typeface="Aptos"/>
              </a:rPr>
              <a:t>, Ilse, Peter T. A. Linders, Danielle R. J. </a:t>
            </a:r>
            <a:r>
              <a:rPr lang="de-DE" dirty="0" err="1">
                <a:latin typeface="Aptos"/>
              </a:rPr>
              <a:t>Verboogen</a:t>
            </a:r>
            <a:r>
              <a:rPr lang="de-DE" dirty="0">
                <a:latin typeface="Aptos"/>
              </a:rPr>
              <a:t>, Natalia H. Revelo, Martin Ter </a:t>
            </a:r>
            <a:r>
              <a:rPr lang="de-DE" dirty="0" err="1">
                <a:latin typeface="Aptos"/>
              </a:rPr>
              <a:t>Beest</a:t>
            </a:r>
            <a:r>
              <a:rPr lang="de-DE" dirty="0">
                <a:latin typeface="Aptos"/>
              </a:rPr>
              <a:t>, and Geert Van Den </a:t>
            </a:r>
            <a:r>
              <a:rPr lang="de-DE" dirty="0" err="1">
                <a:latin typeface="Aptos"/>
              </a:rPr>
              <a:t>Bogaart</a:t>
            </a:r>
            <a:r>
              <a:rPr lang="de-DE" dirty="0">
                <a:latin typeface="Aptos"/>
              </a:rPr>
              <a:t>. 2018. ‘</a:t>
            </a:r>
            <a:r>
              <a:rPr lang="de-DE" dirty="0" err="1">
                <a:latin typeface="Aptos"/>
              </a:rPr>
              <a:t>Endosomal</a:t>
            </a:r>
            <a:r>
              <a:rPr lang="de-DE" dirty="0">
                <a:latin typeface="Aptos"/>
              </a:rPr>
              <a:t> and </a:t>
            </a:r>
            <a:r>
              <a:rPr lang="de-DE" dirty="0" err="1">
                <a:latin typeface="Aptos"/>
              </a:rPr>
              <a:t>Phagosomal</a:t>
            </a:r>
            <a:r>
              <a:rPr lang="de-DE" dirty="0">
                <a:latin typeface="Aptos"/>
              </a:rPr>
              <a:t> SNAREs’. </a:t>
            </a:r>
            <a:r>
              <a:rPr lang="de-DE" i="1" dirty="0">
                <a:latin typeface="Aptos"/>
              </a:rPr>
              <a:t>Physiological Reviews</a:t>
            </a:r>
            <a:r>
              <a:rPr lang="de-DE" dirty="0">
                <a:latin typeface="Aptos"/>
              </a:rPr>
              <a:t> 98 (3): 1465–92. </a:t>
            </a:r>
            <a:r>
              <a:rPr lang="de-DE" dirty="0">
                <a:latin typeface="Apto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https://doi.org/10.1152/physrev.00037.2017</a:t>
            </a:r>
            <a:r>
              <a:rPr lang="de-DE" dirty="0">
                <a:latin typeface="Aptos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latin typeface="Aptos"/>
              </a:rPr>
              <a:t>Gao, </a:t>
            </a:r>
            <a:r>
              <a:rPr lang="de-DE" dirty="0" err="1">
                <a:latin typeface="Aptos"/>
              </a:rPr>
              <a:t>Jianjiong</a:t>
            </a:r>
            <a:r>
              <a:rPr lang="de-DE" dirty="0">
                <a:latin typeface="Aptos"/>
              </a:rPr>
              <a:t>, Bülent Arman Aksoy, Ugur </a:t>
            </a:r>
            <a:r>
              <a:rPr lang="de-DE" dirty="0" err="1">
                <a:latin typeface="Aptos"/>
              </a:rPr>
              <a:t>Dogrusoz</a:t>
            </a:r>
            <a:r>
              <a:rPr lang="de-DE" dirty="0">
                <a:latin typeface="Aptos"/>
              </a:rPr>
              <a:t>, et al. 2013. ‘Integrative Analysis of </a:t>
            </a:r>
            <a:r>
              <a:rPr lang="de-DE" dirty="0" err="1">
                <a:latin typeface="Aptos"/>
              </a:rPr>
              <a:t>Complex</a:t>
            </a:r>
            <a:r>
              <a:rPr lang="de-DE" dirty="0">
                <a:latin typeface="Aptos"/>
              </a:rPr>
              <a:t> Cancer </a:t>
            </a:r>
            <a:r>
              <a:rPr lang="de-DE" dirty="0" err="1">
                <a:latin typeface="Aptos"/>
              </a:rPr>
              <a:t>Genomics</a:t>
            </a:r>
            <a:r>
              <a:rPr lang="de-DE" dirty="0">
                <a:latin typeface="Aptos"/>
              </a:rPr>
              <a:t> and Clinical </a:t>
            </a:r>
            <a:r>
              <a:rPr lang="de-DE" dirty="0" err="1">
                <a:latin typeface="Aptos"/>
              </a:rPr>
              <a:t>Profiles</a:t>
            </a:r>
            <a:r>
              <a:rPr lang="de-DE" dirty="0">
                <a:latin typeface="Aptos"/>
              </a:rPr>
              <a:t> </a:t>
            </a:r>
            <a:r>
              <a:rPr lang="de-DE" dirty="0" err="1">
                <a:latin typeface="Aptos"/>
              </a:rPr>
              <a:t>Using</a:t>
            </a:r>
            <a:r>
              <a:rPr lang="de-DE" dirty="0">
                <a:latin typeface="Aptos"/>
              </a:rPr>
              <a:t> the </a:t>
            </a:r>
            <a:r>
              <a:rPr lang="de-DE" dirty="0" err="1">
                <a:latin typeface="Aptos"/>
              </a:rPr>
              <a:t>cBioPortal</a:t>
            </a:r>
            <a:r>
              <a:rPr lang="de-DE" dirty="0">
                <a:latin typeface="Aptos"/>
              </a:rPr>
              <a:t>’. </a:t>
            </a:r>
            <a:r>
              <a:rPr lang="de-DE" i="1" dirty="0">
                <a:latin typeface="Aptos"/>
              </a:rPr>
              <a:t>Science </a:t>
            </a:r>
            <a:r>
              <a:rPr lang="de-DE" i="1" dirty="0" err="1">
                <a:latin typeface="Aptos"/>
              </a:rPr>
              <a:t>Signaling</a:t>
            </a:r>
            <a:r>
              <a:rPr lang="de-DE" dirty="0">
                <a:latin typeface="Aptos"/>
              </a:rPr>
              <a:t> 6 (269). </a:t>
            </a:r>
            <a:r>
              <a:rPr lang="de-DE" dirty="0">
                <a:latin typeface="Apto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https://doi.org/10.1126/scisignal.2004088</a:t>
            </a:r>
            <a:r>
              <a:rPr lang="de-DE" dirty="0">
                <a:latin typeface="Aptos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latin typeface="Aptos"/>
              </a:rPr>
              <a:t>Jumper, John, Richard Evans, Alexander Pritzel, et al. 2021. ‘</a:t>
            </a:r>
            <a:r>
              <a:rPr lang="de-DE" dirty="0" err="1">
                <a:latin typeface="Aptos"/>
              </a:rPr>
              <a:t>Highly</a:t>
            </a:r>
            <a:r>
              <a:rPr lang="de-DE" dirty="0">
                <a:latin typeface="Aptos"/>
              </a:rPr>
              <a:t> </a:t>
            </a:r>
            <a:r>
              <a:rPr lang="de-DE" dirty="0" err="1">
                <a:latin typeface="Aptos"/>
              </a:rPr>
              <a:t>Accurate</a:t>
            </a:r>
            <a:r>
              <a:rPr lang="de-DE" dirty="0">
                <a:latin typeface="Aptos"/>
              </a:rPr>
              <a:t> Protein </a:t>
            </a:r>
            <a:r>
              <a:rPr lang="de-DE" dirty="0" err="1">
                <a:latin typeface="Aptos"/>
              </a:rPr>
              <a:t>Structure</a:t>
            </a:r>
            <a:r>
              <a:rPr lang="de-DE" dirty="0">
                <a:latin typeface="Aptos"/>
              </a:rPr>
              <a:t> </a:t>
            </a:r>
            <a:r>
              <a:rPr lang="de-DE" dirty="0" err="1">
                <a:latin typeface="Aptos"/>
              </a:rPr>
              <a:t>Prediction</a:t>
            </a:r>
            <a:r>
              <a:rPr lang="de-DE" dirty="0">
                <a:latin typeface="Aptos"/>
              </a:rPr>
              <a:t> </a:t>
            </a:r>
            <a:r>
              <a:rPr lang="de-DE" dirty="0" err="1">
                <a:latin typeface="Aptos"/>
              </a:rPr>
              <a:t>with</a:t>
            </a:r>
            <a:r>
              <a:rPr lang="de-DE" dirty="0">
                <a:latin typeface="Aptos"/>
              </a:rPr>
              <a:t> AlphaFold’. </a:t>
            </a:r>
            <a:r>
              <a:rPr lang="de-DE" i="1" dirty="0">
                <a:latin typeface="Aptos"/>
              </a:rPr>
              <a:t>Nature</a:t>
            </a:r>
            <a:r>
              <a:rPr lang="de-DE" dirty="0">
                <a:latin typeface="Aptos"/>
              </a:rPr>
              <a:t> 596 (7873): 583–89. </a:t>
            </a:r>
            <a:r>
              <a:rPr lang="de-DE" dirty="0">
                <a:latin typeface="Aptos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https://doi.org/10.1038/s41586-021-03819-2</a:t>
            </a:r>
            <a:r>
              <a:rPr lang="de-DE" dirty="0">
                <a:latin typeface="Aptos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latin typeface="Aptos"/>
              </a:rPr>
              <a:t>Mastrodonato, Valeria, Galina </a:t>
            </a:r>
            <a:r>
              <a:rPr lang="de-DE" dirty="0" err="1">
                <a:latin typeface="Aptos"/>
              </a:rPr>
              <a:t>Beznoussenko</a:t>
            </a:r>
            <a:r>
              <a:rPr lang="de-DE" dirty="0">
                <a:latin typeface="Aptos"/>
              </a:rPr>
              <a:t>, Alexandre Mironov, Laura Ferrari, Gianluca </a:t>
            </a:r>
            <a:r>
              <a:rPr lang="de-DE" dirty="0" err="1">
                <a:latin typeface="Aptos"/>
              </a:rPr>
              <a:t>Deflorian</a:t>
            </a:r>
            <a:r>
              <a:rPr lang="de-DE" dirty="0">
                <a:latin typeface="Aptos"/>
              </a:rPr>
              <a:t>, and Thomas Vaccari. 2019. ‘A Genetic Model of CEDNIK Syndrome in </a:t>
            </a:r>
            <a:r>
              <a:rPr lang="de-DE" dirty="0" err="1">
                <a:latin typeface="Aptos"/>
              </a:rPr>
              <a:t>Zebrafish</a:t>
            </a:r>
            <a:r>
              <a:rPr lang="de-DE" dirty="0">
                <a:latin typeface="Aptos"/>
              </a:rPr>
              <a:t> Highlights the Role of the SNARE Protein Snap29 in Neuromotor and Epidermal Development’. </a:t>
            </a:r>
            <a:r>
              <a:rPr lang="de-DE" i="1" dirty="0">
                <a:latin typeface="Aptos"/>
              </a:rPr>
              <a:t>Scientific Reports</a:t>
            </a:r>
            <a:r>
              <a:rPr lang="de-DE" dirty="0">
                <a:latin typeface="Aptos"/>
              </a:rPr>
              <a:t> 9 (1): 1211. </a:t>
            </a:r>
            <a:r>
              <a:rPr lang="de-DE" dirty="0">
                <a:latin typeface="Apto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https://doi.org/10.1038/s41598-018-37780-4</a:t>
            </a:r>
            <a:r>
              <a:rPr lang="de-DE" dirty="0">
                <a:latin typeface="Aptos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latin typeface="Aptos"/>
              </a:rPr>
              <a:t>Morelli, Elena, Elisa A. Speranza, Enrica Pellegrino, et al. 2021. ‘</a:t>
            </a:r>
            <a:r>
              <a:rPr lang="de-DE" dirty="0" err="1">
                <a:latin typeface="Aptos"/>
              </a:rPr>
              <a:t>Activity</a:t>
            </a:r>
            <a:r>
              <a:rPr lang="de-DE" dirty="0">
                <a:latin typeface="Aptos"/>
              </a:rPr>
              <a:t> of the SNARE Protein SNAP29 at the </a:t>
            </a:r>
            <a:r>
              <a:rPr lang="de-DE" dirty="0" err="1">
                <a:latin typeface="Aptos"/>
              </a:rPr>
              <a:t>Endoplasmic</a:t>
            </a:r>
            <a:r>
              <a:rPr lang="de-DE" dirty="0">
                <a:latin typeface="Aptos"/>
              </a:rPr>
              <a:t> </a:t>
            </a:r>
            <a:r>
              <a:rPr lang="de-DE" dirty="0" err="1">
                <a:latin typeface="Aptos"/>
              </a:rPr>
              <a:t>Reticulum</a:t>
            </a:r>
            <a:r>
              <a:rPr lang="de-DE" dirty="0">
                <a:latin typeface="Aptos"/>
              </a:rPr>
              <a:t> and Golgi </a:t>
            </a:r>
            <a:r>
              <a:rPr lang="de-DE" dirty="0" err="1">
                <a:latin typeface="Aptos"/>
              </a:rPr>
              <a:t>Apparatus</a:t>
            </a:r>
            <a:r>
              <a:rPr lang="de-DE" dirty="0">
                <a:latin typeface="Aptos"/>
              </a:rPr>
              <a:t>’. </a:t>
            </a:r>
            <a:r>
              <a:rPr lang="de-DE" i="1" dirty="0">
                <a:latin typeface="Aptos"/>
              </a:rPr>
              <a:t>Frontiers in </a:t>
            </a:r>
            <a:r>
              <a:rPr lang="de-DE" i="1" dirty="0" err="1">
                <a:latin typeface="Aptos"/>
              </a:rPr>
              <a:t>Cell</a:t>
            </a:r>
            <a:r>
              <a:rPr lang="de-DE" i="1" dirty="0">
                <a:latin typeface="Aptos"/>
              </a:rPr>
              <a:t> and </a:t>
            </a:r>
            <a:r>
              <a:rPr lang="de-DE" i="1" dirty="0" err="1">
                <a:latin typeface="Aptos"/>
              </a:rPr>
              <a:t>Developmental</a:t>
            </a:r>
            <a:r>
              <a:rPr lang="de-DE" i="1" dirty="0">
                <a:latin typeface="Aptos"/>
              </a:rPr>
              <a:t> </a:t>
            </a:r>
            <a:r>
              <a:rPr lang="de-DE" i="1" dirty="0" err="1">
                <a:latin typeface="Aptos"/>
              </a:rPr>
              <a:t>Biology</a:t>
            </a:r>
            <a:r>
              <a:rPr lang="de-DE" dirty="0">
                <a:latin typeface="Aptos"/>
              </a:rPr>
              <a:t> 9 (</a:t>
            </a:r>
            <a:r>
              <a:rPr lang="de-DE" dirty="0" err="1">
                <a:latin typeface="Aptos"/>
              </a:rPr>
              <a:t>February</a:t>
            </a:r>
            <a:r>
              <a:rPr lang="de-DE" dirty="0">
                <a:latin typeface="Aptos"/>
              </a:rPr>
              <a:t>): 637565. </a:t>
            </a:r>
            <a:r>
              <a:rPr lang="de-DE" dirty="0">
                <a:latin typeface="Aptos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https://doi.org/10.3389/fcell.2021.637565</a:t>
            </a:r>
            <a:r>
              <a:rPr lang="de-DE" dirty="0">
                <a:latin typeface="Aptos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latin typeface="Aptos"/>
              </a:rPr>
              <a:t>Rapaport, Debora, Yevgenia Lugassy, Eli Sprecher, and Mia Horowitz. 2010. ‘Loss of SNAP29 </a:t>
            </a:r>
            <a:r>
              <a:rPr lang="de-DE" dirty="0" err="1">
                <a:latin typeface="Aptos"/>
              </a:rPr>
              <a:t>Impairs</a:t>
            </a:r>
            <a:r>
              <a:rPr lang="de-DE" dirty="0">
                <a:latin typeface="Aptos"/>
              </a:rPr>
              <a:t> </a:t>
            </a:r>
            <a:r>
              <a:rPr lang="de-DE" dirty="0" err="1">
                <a:latin typeface="Aptos"/>
              </a:rPr>
              <a:t>Endocytic</a:t>
            </a:r>
            <a:r>
              <a:rPr lang="de-DE" dirty="0">
                <a:latin typeface="Aptos"/>
              </a:rPr>
              <a:t> Recycling and </a:t>
            </a:r>
            <a:r>
              <a:rPr lang="de-DE" dirty="0" err="1">
                <a:latin typeface="Aptos"/>
              </a:rPr>
              <a:t>Cell</a:t>
            </a:r>
            <a:r>
              <a:rPr lang="de-DE" dirty="0">
                <a:latin typeface="Aptos"/>
              </a:rPr>
              <a:t> </a:t>
            </a:r>
            <a:r>
              <a:rPr lang="de-DE" dirty="0" err="1">
                <a:latin typeface="Aptos"/>
              </a:rPr>
              <a:t>Motility</a:t>
            </a:r>
            <a:r>
              <a:rPr lang="de-DE" dirty="0">
                <a:latin typeface="Aptos"/>
              </a:rPr>
              <a:t>’. </a:t>
            </a:r>
            <a:r>
              <a:rPr lang="de-DE" i="1" dirty="0">
                <a:latin typeface="Aptos"/>
              </a:rPr>
              <a:t>PLoS ONE</a:t>
            </a:r>
            <a:r>
              <a:rPr lang="de-DE" dirty="0">
                <a:latin typeface="Aptos"/>
              </a:rPr>
              <a:t> 5 (3): e9759. </a:t>
            </a:r>
            <a:r>
              <a:rPr lang="de-DE" dirty="0">
                <a:latin typeface="Aptos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https://doi.org/10.1371/journal.pone.0009759</a:t>
            </a:r>
            <a:r>
              <a:rPr lang="de-DE" dirty="0">
                <a:latin typeface="Aptos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>
                <a:latin typeface="Aptos"/>
              </a:rPr>
              <a:t>Smeele</a:t>
            </a:r>
            <a:r>
              <a:rPr lang="de-DE" dirty="0">
                <a:latin typeface="Aptos"/>
              </a:rPr>
              <a:t>, Paulien H., and Thomas Vaccari. 2023. ‘Snapshots </a:t>
            </a:r>
            <a:r>
              <a:rPr lang="de-DE" dirty="0" err="1">
                <a:latin typeface="Aptos"/>
              </a:rPr>
              <a:t>from</a:t>
            </a:r>
            <a:r>
              <a:rPr lang="de-DE" dirty="0">
                <a:latin typeface="Aptos"/>
              </a:rPr>
              <a:t> </a:t>
            </a:r>
            <a:r>
              <a:rPr lang="de-DE" dirty="0" err="1">
                <a:latin typeface="Aptos"/>
              </a:rPr>
              <a:t>within</a:t>
            </a:r>
            <a:r>
              <a:rPr lang="de-DE" dirty="0">
                <a:latin typeface="Aptos"/>
              </a:rPr>
              <a:t> the </a:t>
            </a:r>
            <a:r>
              <a:rPr lang="de-DE" dirty="0" err="1">
                <a:latin typeface="Aptos"/>
              </a:rPr>
              <a:t>Cell</a:t>
            </a:r>
            <a:r>
              <a:rPr lang="de-DE" dirty="0">
                <a:latin typeface="Aptos"/>
              </a:rPr>
              <a:t>: Novel </a:t>
            </a:r>
            <a:r>
              <a:rPr lang="de-DE" dirty="0" err="1">
                <a:latin typeface="Aptos"/>
              </a:rPr>
              <a:t>Trafficking</a:t>
            </a:r>
            <a:r>
              <a:rPr lang="de-DE" dirty="0">
                <a:latin typeface="Aptos"/>
              </a:rPr>
              <a:t> and Non </a:t>
            </a:r>
            <a:r>
              <a:rPr lang="de-DE" dirty="0" err="1">
                <a:latin typeface="Aptos"/>
              </a:rPr>
              <a:t>Trafficking</a:t>
            </a:r>
            <a:r>
              <a:rPr lang="de-DE" dirty="0">
                <a:latin typeface="Aptos"/>
              </a:rPr>
              <a:t> </a:t>
            </a:r>
            <a:r>
              <a:rPr lang="de-DE" dirty="0" err="1">
                <a:latin typeface="Aptos"/>
              </a:rPr>
              <a:t>Functions</a:t>
            </a:r>
            <a:r>
              <a:rPr lang="de-DE" dirty="0">
                <a:latin typeface="Aptos"/>
              </a:rPr>
              <a:t> of Snap29 </a:t>
            </a:r>
            <a:r>
              <a:rPr lang="de-DE" dirty="0" err="1">
                <a:latin typeface="Aptos"/>
              </a:rPr>
              <a:t>during</a:t>
            </a:r>
            <a:r>
              <a:rPr lang="de-DE" dirty="0">
                <a:latin typeface="Aptos"/>
              </a:rPr>
              <a:t> Tissue Morphogenesis’. </a:t>
            </a:r>
            <a:r>
              <a:rPr lang="de-DE" i="1" dirty="0">
                <a:latin typeface="Aptos"/>
              </a:rPr>
              <a:t>Seminars in </a:t>
            </a:r>
            <a:r>
              <a:rPr lang="de-DE" i="1" dirty="0" err="1">
                <a:latin typeface="Aptos"/>
              </a:rPr>
              <a:t>Cell</a:t>
            </a:r>
            <a:r>
              <a:rPr lang="de-DE" i="1" dirty="0">
                <a:latin typeface="Aptos"/>
              </a:rPr>
              <a:t> &amp; </a:t>
            </a:r>
            <a:r>
              <a:rPr lang="de-DE" i="1" dirty="0" err="1">
                <a:latin typeface="Aptos"/>
              </a:rPr>
              <a:t>Developmental</a:t>
            </a:r>
            <a:r>
              <a:rPr lang="de-DE" i="1" dirty="0">
                <a:latin typeface="Aptos"/>
              </a:rPr>
              <a:t> </a:t>
            </a:r>
            <a:r>
              <a:rPr lang="de-DE" i="1" dirty="0" err="1">
                <a:latin typeface="Aptos"/>
              </a:rPr>
              <a:t>Biology</a:t>
            </a:r>
            <a:r>
              <a:rPr lang="de-DE" dirty="0">
                <a:latin typeface="Aptos"/>
              </a:rPr>
              <a:t> 133 (</a:t>
            </a:r>
            <a:r>
              <a:rPr lang="de-DE" dirty="0" err="1">
                <a:latin typeface="Aptos"/>
              </a:rPr>
              <a:t>January</a:t>
            </a:r>
            <a:r>
              <a:rPr lang="de-DE" dirty="0">
                <a:latin typeface="Aptos"/>
              </a:rPr>
              <a:t>): 42–52. </a:t>
            </a:r>
            <a:r>
              <a:rPr lang="de-DE" dirty="0">
                <a:latin typeface="Aptos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https://doi.org/10.1016/j.semcdb.2022.02.024</a:t>
            </a:r>
            <a:r>
              <a:rPr lang="de-DE" dirty="0">
                <a:latin typeface="Aptos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>
                <a:latin typeface="Aptos"/>
              </a:rPr>
              <a:t>Zhao, M., and A. T. Brunger. 2015. ‘Crystal </a:t>
            </a:r>
            <a:r>
              <a:rPr lang="de-DE" dirty="0" err="1">
                <a:latin typeface="Aptos"/>
              </a:rPr>
              <a:t>Structure</a:t>
            </a:r>
            <a:r>
              <a:rPr lang="de-DE" dirty="0">
                <a:latin typeface="Aptos"/>
              </a:rPr>
              <a:t> of </a:t>
            </a:r>
            <a:r>
              <a:rPr lang="de-DE" dirty="0" err="1">
                <a:latin typeface="Aptos"/>
              </a:rPr>
              <a:t>Autophagic</a:t>
            </a:r>
            <a:r>
              <a:rPr lang="de-DE" dirty="0">
                <a:latin typeface="Aptos"/>
              </a:rPr>
              <a:t> SNARE </a:t>
            </a:r>
            <a:r>
              <a:rPr lang="de-DE" dirty="0" err="1">
                <a:latin typeface="Aptos"/>
              </a:rPr>
              <a:t>Complex</a:t>
            </a:r>
            <a:r>
              <a:rPr lang="de-DE" dirty="0">
                <a:latin typeface="Aptos"/>
              </a:rPr>
              <a:t>: 4wy4’. </a:t>
            </a:r>
            <a:r>
              <a:rPr lang="de-DE" dirty="0" err="1">
                <a:latin typeface="Aptos"/>
              </a:rPr>
              <a:t>February</a:t>
            </a:r>
            <a:r>
              <a:rPr lang="de-DE" dirty="0">
                <a:latin typeface="Aptos"/>
              </a:rPr>
              <a:t> 11. </a:t>
            </a:r>
            <a:r>
              <a:rPr lang="de-DE" dirty="0">
                <a:latin typeface="Aptos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https://doi.org/10.2210/pdb4wy4/pdb</a:t>
            </a:r>
            <a:r>
              <a:rPr lang="de-DE" dirty="0">
                <a:latin typeface="Aptos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de-DE" dirty="0">
              <a:latin typeface="Aptos" panose="020B0004020202020204" pitchFamily="34" charset="0"/>
            </a:endParaRPr>
          </a:p>
          <a:p>
            <a:pPr marL="342900" indent="-342900">
              <a:buAutoNum type="arabicPeriod"/>
            </a:pPr>
            <a:endParaRPr lang="de-DE" dirty="0">
              <a:latin typeface="Aptos" panose="020B00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E9ECB5-63D3-C93C-057F-F6636F8FD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422D1574-92BC-329C-16D7-883426B21568}"/>
              </a:ext>
            </a:extLst>
          </p:cNvPr>
          <p:cNvSpPr/>
          <p:nvPr/>
        </p:nvSpPr>
        <p:spPr>
          <a:xfrm>
            <a:off x="-204949" y="-331076"/>
            <a:ext cx="18855559" cy="2756010"/>
          </a:xfrm>
          <a:prstGeom prst="rect">
            <a:avLst/>
          </a:prstGeom>
          <a:solidFill>
            <a:srgbClr val="DEECC7"/>
          </a:solidFill>
          <a:ln w="19050">
            <a:solidFill>
              <a:srgbClr val="298F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76EB096-D29B-3295-318B-289591EC20E9}"/>
              </a:ext>
            </a:extLst>
          </p:cNvPr>
          <p:cNvSpPr txBox="1"/>
          <p:nvPr/>
        </p:nvSpPr>
        <p:spPr>
          <a:xfrm>
            <a:off x="1028700" y="1171575"/>
            <a:ext cx="10955103" cy="106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000" b="1">
                <a:solidFill>
                  <a:srgbClr val="2D2D2D"/>
                </a:solidFill>
                <a:latin typeface="Montserrat Bold"/>
                <a:sym typeface="Montserrat Bold"/>
              </a:rPr>
              <a:t>References</a:t>
            </a:r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DA43466-527C-AFC9-D88C-60343936CD20}"/>
              </a:ext>
            </a:extLst>
          </p:cNvPr>
          <p:cNvSpPr txBox="1"/>
          <p:nvPr/>
        </p:nvSpPr>
        <p:spPr>
          <a:xfrm>
            <a:off x="419100" y="2489687"/>
            <a:ext cx="7888643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dirty="0">
                <a:latin typeface="Calibri"/>
                <a:ea typeface="Calibri"/>
                <a:cs typeface="Calibri"/>
              </a:rPr>
              <a:t>Tools and </a:t>
            </a:r>
            <a:r>
              <a:rPr lang="de-DE" dirty="0" err="1">
                <a:latin typeface="Calibri"/>
                <a:ea typeface="Calibri"/>
                <a:cs typeface="Calibri"/>
              </a:rPr>
              <a:t>Programs</a:t>
            </a:r>
            <a:r>
              <a:rPr lang="de-DE" dirty="0">
                <a:latin typeface="Calibri"/>
                <a:ea typeface="Calibri"/>
                <a:cs typeface="Calibri"/>
              </a:rPr>
              <a:t>:</a:t>
            </a:r>
            <a:endParaRPr lang="en-US" dirty="0"/>
          </a:p>
          <a:p>
            <a:pPr marL="342900" indent="-342900">
              <a:buAutoNum type="arabicPeriod"/>
            </a:pPr>
            <a:r>
              <a:rPr lang="de-DE" dirty="0">
                <a:ea typeface="+mn-lt"/>
                <a:cs typeface="+mn-lt"/>
              </a:rPr>
              <a:t>J. T. Robinson </a:t>
            </a:r>
            <a:r>
              <a:rPr lang="de-DE" i="1" dirty="0">
                <a:ea typeface="+mn-lt"/>
                <a:cs typeface="+mn-lt"/>
              </a:rPr>
              <a:t>et al.</a:t>
            </a:r>
            <a:r>
              <a:rPr lang="de-DE" dirty="0">
                <a:ea typeface="+mn-lt"/>
                <a:cs typeface="+mn-lt"/>
              </a:rPr>
              <a:t>, "Integrative </a:t>
            </a:r>
            <a:r>
              <a:rPr lang="de-DE" dirty="0" err="1">
                <a:ea typeface="+mn-lt"/>
                <a:cs typeface="+mn-lt"/>
              </a:rPr>
              <a:t>Genomics</a:t>
            </a:r>
            <a:r>
              <a:rPr lang="de-DE" dirty="0">
                <a:ea typeface="+mn-lt"/>
                <a:cs typeface="+mn-lt"/>
              </a:rPr>
              <a:t> Viewer," </a:t>
            </a:r>
            <a:r>
              <a:rPr lang="de-DE" i="1" dirty="0">
                <a:ea typeface="+mn-lt"/>
                <a:cs typeface="+mn-lt"/>
              </a:rPr>
              <a:t>Nature Biotechnology</a:t>
            </a:r>
            <a:r>
              <a:rPr lang="de-DE" dirty="0">
                <a:ea typeface="+mn-lt"/>
                <a:cs typeface="+mn-lt"/>
              </a:rPr>
              <a:t>, vol. 29, </a:t>
            </a:r>
            <a:r>
              <a:rPr lang="de-DE" dirty="0" err="1">
                <a:ea typeface="+mn-lt"/>
                <a:cs typeface="+mn-lt"/>
              </a:rPr>
              <a:t>no</a:t>
            </a:r>
            <a:r>
              <a:rPr lang="de-DE" dirty="0">
                <a:ea typeface="+mn-lt"/>
                <a:cs typeface="+mn-lt"/>
              </a:rPr>
              <a:t>. 1, pp. 24–26, Jan. 2011, </a:t>
            </a:r>
            <a:r>
              <a:rPr lang="de-DE" dirty="0" err="1">
                <a:ea typeface="+mn-lt"/>
                <a:cs typeface="+mn-lt"/>
              </a:rPr>
              <a:t>doi</a:t>
            </a:r>
            <a:r>
              <a:rPr lang="de-DE" dirty="0">
                <a:ea typeface="+mn-lt"/>
                <a:cs typeface="+mn-lt"/>
              </a:rPr>
              <a:t>: 10.1038/nbt.1754. IGV </a:t>
            </a:r>
            <a:r>
              <a:rPr lang="de-DE" dirty="0" err="1">
                <a:ea typeface="+mn-lt"/>
                <a:cs typeface="+mn-lt"/>
              </a:rPr>
              <a:t>version</a:t>
            </a:r>
            <a:r>
              <a:rPr lang="de-DE" dirty="0">
                <a:ea typeface="+mn-lt"/>
                <a:cs typeface="+mn-lt"/>
              </a:rPr>
              <a:t> 2.19.8</a:t>
            </a:r>
            <a:endParaRPr lang="de-DE" dirty="0">
              <a:latin typeface="Aptos" panose="020B0004020202020204" pitchFamily="34" charset="0"/>
              <a:cs typeface="Calibri"/>
            </a:endParaRPr>
          </a:p>
          <a:p>
            <a:pPr marL="342900" indent="-342900">
              <a:buAutoNum type="arabicPeriod"/>
            </a:pPr>
            <a:r>
              <a:rPr lang="de-DE" dirty="0">
                <a:ea typeface="+mn-lt"/>
                <a:cs typeface="+mn-lt"/>
              </a:rPr>
              <a:t>E. Cerami </a:t>
            </a:r>
            <a:r>
              <a:rPr lang="de-DE" i="1" dirty="0">
                <a:ea typeface="+mn-lt"/>
                <a:cs typeface="+mn-lt"/>
              </a:rPr>
              <a:t>et al.</a:t>
            </a:r>
            <a:r>
              <a:rPr lang="de-DE" dirty="0">
                <a:ea typeface="+mn-lt"/>
                <a:cs typeface="+mn-lt"/>
              </a:rPr>
              <a:t>, "The </a:t>
            </a:r>
            <a:r>
              <a:rPr lang="de-DE" dirty="0" err="1">
                <a:ea typeface="+mn-lt"/>
                <a:cs typeface="+mn-lt"/>
              </a:rPr>
              <a:t>cBio</a:t>
            </a:r>
            <a:r>
              <a:rPr lang="de-DE" dirty="0">
                <a:ea typeface="+mn-lt"/>
                <a:cs typeface="+mn-lt"/>
              </a:rPr>
              <a:t> Cancer </a:t>
            </a:r>
            <a:r>
              <a:rPr lang="de-DE" dirty="0" err="1">
                <a:ea typeface="+mn-lt"/>
                <a:cs typeface="+mn-lt"/>
              </a:rPr>
              <a:t>Genomics</a:t>
            </a:r>
            <a:r>
              <a:rPr lang="de-DE" dirty="0">
                <a:ea typeface="+mn-lt"/>
                <a:cs typeface="+mn-lt"/>
              </a:rPr>
              <a:t> Portal: An Open Source </a:t>
            </a:r>
            <a:r>
              <a:rPr lang="de-DE" dirty="0" err="1">
                <a:ea typeface="+mn-lt"/>
                <a:cs typeface="+mn-lt"/>
              </a:rPr>
              <a:t>Platform</a:t>
            </a:r>
            <a:r>
              <a:rPr lang="de-DE" dirty="0">
                <a:ea typeface="+mn-lt"/>
                <a:cs typeface="+mn-lt"/>
              </a:rPr>
              <a:t> for </a:t>
            </a:r>
            <a:r>
              <a:rPr lang="de-DE" dirty="0" err="1">
                <a:ea typeface="+mn-lt"/>
                <a:cs typeface="+mn-lt"/>
              </a:rPr>
              <a:t>Exploring</a:t>
            </a:r>
            <a:r>
              <a:rPr lang="de-DE" dirty="0">
                <a:ea typeface="+mn-lt"/>
                <a:cs typeface="+mn-lt"/>
              </a:rPr>
              <a:t> Multidimensional Cancer </a:t>
            </a:r>
            <a:r>
              <a:rPr lang="de-DE" dirty="0" err="1">
                <a:ea typeface="+mn-lt"/>
                <a:cs typeface="+mn-lt"/>
              </a:rPr>
              <a:t>Genomics</a:t>
            </a:r>
            <a:r>
              <a:rPr lang="de-DE" dirty="0">
                <a:ea typeface="+mn-lt"/>
                <a:cs typeface="+mn-lt"/>
              </a:rPr>
              <a:t> Data," </a:t>
            </a:r>
            <a:r>
              <a:rPr lang="de-DE" i="1" dirty="0">
                <a:ea typeface="+mn-lt"/>
                <a:cs typeface="+mn-lt"/>
              </a:rPr>
              <a:t>Cancer Research</a:t>
            </a:r>
            <a:r>
              <a:rPr lang="de-DE" dirty="0">
                <a:ea typeface="+mn-lt"/>
                <a:cs typeface="+mn-lt"/>
              </a:rPr>
              <a:t>, vol. 72, </a:t>
            </a:r>
            <a:r>
              <a:rPr lang="de-DE" dirty="0" err="1">
                <a:ea typeface="+mn-lt"/>
                <a:cs typeface="+mn-lt"/>
              </a:rPr>
              <a:t>no</a:t>
            </a:r>
            <a:r>
              <a:rPr lang="de-DE" dirty="0">
                <a:ea typeface="+mn-lt"/>
                <a:cs typeface="+mn-lt"/>
              </a:rPr>
              <a:t>. 21, pp. 5602–56011, Nov. 2012, </a:t>
            </a:r>
            <a:r>
              <a:rPr lang="de-DE" dirty="0" err="1">
                <a:ea typeface="+mn-lt"/>
                <a:cs typeface="+mn-lt"/>
              </a:rPr>
              <a:t>doi</a:t>
            </a:r>
            <a:r>
              <a:rPr lang="de-DE" dirty="0">
                <a:ea typeface="+mn-lt"/>
                <a:cs typeface="+mn-lt"/>
              </a:rPr>
              <a:t>: 10.1158/0008-5472.CAN-12-0950. </a:t>
            </a:r>
            <a:r>
              <a:rPr lang="de-DE" dirty="0" err="1">
                <a:latin typeface="Aptos"/>
                <a:ea typeface="+mn-lt"/>
                <a:cs typeface="+mn-lt"/>
              </a:rPr>
              <a:t>cBioPortal</a:t>
            </a:r>
            <a:r>
              <a:rPr lang="de-DE" dirty="0">
                <a:latin typeface="Aptos"/>
                <a:ea typeface="+mn-lt"/>
                <a:cs typeface="+mn-lt"/>
              </a:rPr>
              <a:t> v7.1.2</a:t>
            </a:r>
            <a:endParaRPr lang="en-US" dirty="0">
              <a:latin typeface="Aptos"/>
              <a:ea typeface="+mn-lt"/>
              <a:cs typeface="+mn-lt"/>
            </a:endParaRPr>
          </a:p>
          <a:p>
            <a:endParaRPr lang="de-DE" dirty="0">
              <a:ea typeface="Calibri"/>
              <a:cs typeface="Calibri"/>
            </a:endParaRPr>
          </a:p>
          <a:p>
            <a:pPr marL="342900" indent="-342900">
              <a:buFontTx/>
              <a:buAutoNum type="arabicPeriod"/>
            </a:pPr>
            <a:endParaRPr lang="de-DE" dirty="0">
              <a:latin typeface="Aptos" panose="020B00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dirty="0">
              <a:latin typeface="Aptos" panose="020B0004020202020204" pitchFamily="34" charset="0"/>
            </a:endParaRPr>
          </a:p>
        </p:txBody>
      </p:sp>
      <p:sp>
        <p:nvSpPr>
          <p:cNvPr id="2" name="Textfeld 3">
            <a:extLst>
              <a:ext uri="{FF2B5EF4-FFF2-40B4-BE49-F238E27FC236}">
                <a16:creationId xmlns:a16="http://schemas.microsoft.com/office/drawing/2014/main" id="{49D6689C-8320-1E0A-6C00-EBD4305D5852}"/>
              </a:ext>
            </a:extLst>
          </p:cNvPr>
          <p:cNvSpPr txBox="1"/>
          <p:nvPr/>
        </p:nvSpPr>
        <p:spPr>
          <a:xfrm>
            <a:off x="8588169" y="2570179"/>
            <a:ext cx="9135533" cy="39703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ea typeface="Calibri"/>
                <a:cs typeface="Calibri"/>
              </a:rPr>
              <a:t>Figures and Graphs:</a:t>
            </a:r>
          </a:p>
          <a:p>
            <a:pPr marL="342900" indent="-342900">
              <a:buAutoNum type="arabicPeriod"/>
            </a:pPr>
            <a:r>
              <a:rPr lang="en-US" dirty="0">
                <a:ea typeface="+mn-lt"/>
                <a:cs typeface="+mn-lt"/>
              </a:rPr>
              <a:t>Figure 1: Lorenzo-Ríos D, Guerrero-García A, Colón-Fontánez F. Keratoderma and ichthyosis as valuable features for the diagnosis of CEDNIK syndrome JAAD Case Reports, 2023; 46, 64-66</a:t>
            </a:r>
          </a:p>
          <a:p>
            <a:pPr marL="285750" indent="-285750">
              <a:buAutoNum type="arabicPeriod"/>
            </a:pPr>
            <a:r>
              <a:rPr lang="en-US" dirty="0">
                <a:ea typeface="+mn-lt"/>
                <a:cs typeface="+mn-lt"/>
              </a:rPr>
              <a:t>Figure 2: A. Y. Mah-Som et al., "New Cohort of Patients With CEDNIK Syndrome Expands the Phenotypic and Genotypic Spectra," Neurology: Genetics, vol. 7, no. 1, p. e553, Feb. 2021, </a:t>
            </a:r>
            <a:r>
              <a:rPr lang="en-US" dirty="0" err="1">
                <a:ea typeface="+mn-lt"/>
                <a:cs typeface="+mn-lt"/>
              </a:rPr>
              <a:t>doi</a:t>
            </a:r>
            <a:r>
              <a:rPr lang="en-US" dirty="0">
                <a:ea typeface="+mn-lt"/>
                <a:cs typeface="+mn-lt"/>
              </a:rPr>
              <a:t>: 10.1212/NXG.0000000000000553</a:t>
            </a:r>
            <a:endParaRPr lang="en-US" sz="1400">
              <a:solidFill>
                <a:srgbClr val="BFBFBF"/>
              </a:solidFill>
              <a:ea typeface="+mn-lt"/>
              <a:cs typeface="+mn-lt"/>
            </a:endParaRPr>
          </a:p>
          <a:p>
            <a:pPr marL="285750" indent="-285750">
              <a:buAutoNum type="arabicPeriod"/>
            </a:pPr>
            <a:r>
              <a:rPr lang="en-US">
                <a:ea typeface="+mn-lt"/>
                <a:cs typeface="+mn-lt"/>
              </a:rPr>
              <a:t>Schiller</a:t>
            </a:r>
            <a:r>
              <a:rPr lang="en-US" dirty="0">
                <a:latin typeface="Calibri"/>
                <a:ea typeface="Calibri"/>
                <a:cs typeface="Calibri"/>
              </a:rPr>
              <a:t>, S. A., Seebode, C., Wieser, G. L., Goebbels, S., Möbius, W., Horowitz, M., ... &amp; Emmert, S. (2016). Establishment of two mouse models for CEDNIK syndrome reveals the pivotal role of SNAP29 in epidermal differentiation. </a:t>
            </a:r>
            <a:r>
              <a:rPr lang="en-US" i="1" dirty="0">
                <a:latin typeface="Calibri"/>
                <a:ea typeface="Calibri"/>
                <a:cs typeface="Calibri"/>
              </a:rPr>
              <a:t>Journal of Investigative Dermatology</a:t>
            </a:r>
            <a:r>
              <a:rPr lang="en-US" dirty="0">
                <a:latin typeface="Calibri"/>
                <a:ea typeface="Calibri"/>
                <a:cs typeface="Calibri"/>
              </a:rPr>
              <a:t>, </a:t>
            </a:r>
            <a:r>
              <a:rPr lang="en-US" i="1" dirty="0">
                <a:latin typeface="Calibri"/>
                <a:ea typeface="Calibri"/>
                <a:cs typeface="Calibri"/>
              </a:rPr>
              <a:t>136</a:t>
            </a:r>
            <a:r>
              <a:rPr lang="en-US" dirty="0">
                <a:latin typeface="Calibri"/>
                <a:ea typeface="Calibri"/>
                <a:cs typeface="Calibri"/>
              </a:rPr>
              <a:t>(3), 672-679.</a:t>
            </a:r>
            <a:endParaRPr lang="en-US" sz="1400">
              <a:solidFill>
                <a:srgbClr val="BFBFBF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AutoNum type="arabicPeriod"/>
            </a:pPr>
            <a:endParaRPr lang="en-US">
              <a:latin typeface="Calibri"/>
              <a:ea typeface="Calibri"/>
              <a:cs typeface="Calibri"/>
            </a:endParaRPr>
          </a:p>
          <a:p>
            <a:endParaRPr lang="en-US">
              <a:latin typeface="Calibri"/>
              <a:ea typeface="Calibri"/>
              <a:cs typeface="Calibri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>
              <a:latin typeface="Aptos" panose="020B0004020202020204" pitchFamily="34" charset="0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1337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9210675"/>
            <a:ext cx="17259300" cy="0"/>
          </a:xfrm>
          <a:prstGeom prst="line">
            <a:avLst/>
          </a:prstGeom>
          <a:ln w="95250" cap="flat">
            <a:solidFill>
              <a:srgbClr val="DDECC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3" name="AutoShape 3"/>
          <p:cNvSpPr/>
          <p:nvPr/>
        </p:nvSpPr>
        <p:spPr>
          <a:xfrm>
            <a:off x="1028700" y="9504035"/>
            <a:ext cx="17259300" cy="0"/>
          </a:xfrm>
          <a:prstGeom prst="line">
            <a:avLst/>
          </a:prstGeom>
          <a:ln w="95250" cap="flat">
            <a:solidFill>
              <a:srgbClr val="DDECC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grpSp>
        <p:nvGrpSpPr>
          <p:cNvPr id="4" name="Group 4"/>
          <p:cNvGrpSpPr/>
          <p:nvPr/>
        </p:nvGrpSpPr>
        <p:grpSpPr>
          <a:xfrm rot="-3252566">
            <a:off x="12991600" y="-1264764"/>
            <a:ext cx="5588483" cy="10729546"/>
            <a:chOff x="0" y="0"/>
            <a:chExt cx="660400" cy="12679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0400" cy="1267928"/>
            </a:xfrm>
            <a:custGeom>
              <a:avLst/>
              <a:gdLst/>
              <a:ahLst/>
              <a:cxnLst/>
              <a:rect l="l" t="t" r="r" b="b"/>
              <a:pathLst>
                <a:path w="660400" h="1267928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8612"/>
                  </a:cubicBezTo>
                  <a:lnTo>
                    <a:pt x="660400" y="1267928"/>
                  </a:lnTo>
                  <a:lnTo>
                    <a:pt x="0" y="1267928"/>
                  </a:lnTo>
                  <a:lnTo>
                    <a:pt x="0" y="33930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DDECC7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88900"/>
              <a:ext cx="660400" cy="1179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3252566">
            <a:off x="14605455" y="1334151"/>
            <a:ext cx="4791943" cy="7286209"/>
            <a:chOff x="0" y="0"/>
            <a:chExt cx="660400" cy="10041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0400" cy="1004146"/>
            </a:xfrm>
            <a:custGeom>
              <a:avLst/>
              <a:gdLst/>
              <a:ahLst/>
              <a:cxnLst/>
              <a:rect l="l" t="t" r="r" b="b"/>
              <a:pathLst>
                <a:path w="660400" h="1004146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752"/>
                  </a:cubicBezTo>
                  <a:lnTo>
                    <a:pt x="660400" y="1004146"/>
                  </a:lnTo>
                  <a:lnTo>
                    <a:pt x="0" y="1004146"/>
                  </a:lnTo>
                  <a:lnTo>
                    <a:pt x="0" y="33325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CFE3B1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88900"/>
              <a:ext cx="660400" cy="9152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3252566">
            <a:off x="16739403" y="3133434"/>
            <a:ext cx="2571995" cy="5034071"/>
            <a:chOff x="0" y="0"/>
            <a:chExt cx="660400" cy="12925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0400" cy="1292577"/>
            </a:xfrm>
            <a:custGeom>
              <a:avLst/>
              <a:gdLst/>
              <a:ahLst/>
              <a:cxnLst/>
              <a:rect l="l" t="t" r="r" b="b"/>
              <a:pathLst>
                <a:path w="660400" h="1292577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9159"/>
                  </a:cubicBezTo>
                  <a:lnTo>
                    <a:pt x="660400" y="1292577"/>
                  </a:lnTo>
                  <a:lnTo>
                    <a:pt x="0" y="1292577"/>
                  </a:lnTo>
                  <a:lnTo>
                    <a:pt x="0" y="339867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B9D96A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88900"/>
              <a:ext cx="660400" cy="1203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1028700"/>
            <a:ext cx="487608" cy="48760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FE3B1"/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2622859"/>
            <a:ext cx="6189480" cy="2057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 b="1">
                <a:solidFill>
                  <a:srgbClr val="2D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4098101"/>
            <a:ext cx="7921849" cy="2057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 b="1">
                <a:solidFill>
                  <a:srgbClr val="2D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35790" y="1037572"/>
            <a:ext cx="6189480" cy="4293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800" b="1" dirty="0">
                <a:solidFill>
                  <a:srgbClr val="2D2D2D"/>
                </a:solidFill>
                <a:latin typeface="Open Sans Bold"/>
                <a:ea typeface="Open Sans Bold"/>
                <a:cs typeface="Open Sans Bold"/>
              </a:rPr>
              <a:t>Genomics and Databases – IMBM5</a:t>
            </a:r>
          </a:p>
        </p:txBody>
      </p:sp>
      <p:pic>
        <p:nvPicPr>
          <p:cNvPr id="18" name="Picture 9" descr="LCSB_kurz_4c_gross.eps">
            <a:extLst>
              <a:ext uri="{FF2B5EF4-FFF2-40B4-BE49-F238E27FC236}">
                <a16:creationId xmlns:a16="http://schemas.microsoft.com/office/drawing/2014/main" id="{A4D8D041-6BBC-B4BE-4454-262EA3DC1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7300" y="158624"/>
            <a:ext cx="76200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0" descr="Logo_Uni_quadri_7cm.eps.eps">
            <a:extLst>
              <a:ext uri="{FF2B5EF4-FFF2-40B4-BE49-F238E27FC236}">
                <a16:creationId xmlns:a16="http://schemas.microsoft.com/office/drawing/2014/main" id="{13CC218B-7EEB-EC58-7FD0-57B5270682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0575" y="217361"/>
            <a:ext cx="7207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45a9c95-0f9d-4953-9db1-bc4a45dd1220}" enabled="0" method="" siteId="{445a9c95-0f9d-4953-9db1-bc4a45dd122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2170</Words>
  <Application>Microsoft Macintosh PowerPoint</Application>
  <PresentationFormat>Benutzerdefiniert</PresentationFormat>
  <Paragraphs>211</Paragraphs>
  <Slides>18</Slides>
  <Notes>7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8" baseType="lpstr">
      <vt:lpstr>Open Sans Bold</vt:lpstr>
      <vt:lpstr>Montserrat Bold</vt:lpstr>
      <vt:lpstr>Open Sans</vt:lpstr>
      <vt:lpstr>Wingdings,sans-serif</vt:lpstr>
      <vt:lpstr>Calibri</vt:lpstr>
      <vt:lpstr>Aptos</vt:lpstr>
      <vt:lpstr>Arial</vt:lpstr>
      <vt:lpstr>Wingdings</vt:lpstr>
      <vt:lpstr>Arial,Sans-Serif</vt:lpstr>
      <vt:lpstr>Office Theme</vt:lpstr>
      <vt:lpstr>PowerPoint-Präsentation</vt:lpstr>
      <vt:lpstr>CEDNIK Syndrome</vt:lpstr>
      <vt:lpstr>PowerPoint-Präsentation</vt:lpstr>
      <vt:lpstr>PowerPoint-Präsentation</vt:lpstr>
      <vt:lpstr>Symptoms</vt:lpstr>
      <vt:lpstr>Case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White Modern Corporate Data Analysis Presentation</dc:title>
  <cp:lastModifiedBy>Maja Ewen</cp:lastModifiedBy>
  <cp:revision>14</cp:revision>
  <dcterms:created xsi:type="dcterms:W3CDTF">2006-08-16T00:00:00Z</dcterms:created>
  <dcterms:modified xsi:type="dcterms:W3CDTF">2026-10-13T21:04:09Z</dcterms:modified>
  <dc:identifier>DAHXgLwxV7A</dc:identifier>
</cp:coreProperties>
</file>